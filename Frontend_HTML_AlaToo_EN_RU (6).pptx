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3"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Открытие занятия, 1–2 минуты. Скажите: «Сегодня мы узнаем, как устроена видимая часть сайта, а затем создадим свою первую HTML-страницу». Попросите студентов назвать сайт, которым они пользовались сегодня. Не начинайте с перечисления десятков тегов: сначала покажите, какую задачу они помогают решить. Учебные примеры посвящены Ala-Too. Это материал занятия, а не официальная презентация университета. Обложка содержит абстрактную иллюстрацию слоёв веб-страницы.</a:t>
            </a:r>
          </a:p>
          <a:p>
            <a:endParaRPr/>
          </a:p>
          <a:p>
            <a:r>
              <a:t>Sources</a:t>
            </a:r>
          </a:p>
          <a:p>
            <a:r>
              <a:t>Original classroom example. This lesson uses Ala-Too as a teaching theme.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Обозначьте результат. У каждого студента к концу практики должен появиться файл index.html с заголовком, текстом, списком, ссылкой и изображением. Можно сразу открыть большой учебный index.html из предыдущего задания и показать, что все эти элементы есть в готовой странице. Для первой самостоятельной работы используйте небольшой фрагмент, а полный файл оставьте как справочник. Спросите: «Что вы хотите поместить на свою страницу университета?»</a:t>
            </a:r>
          </a:p>
          <a:p>
            <a:endParaRPr/>
          </a:p>
          <a:p>
            <a:r>
              <a:t>Sources</a:t>
            </a:r>
          </a:p>
          <a:p>
            <a:r>
              <a:t>Original classroom example. This lesson uses Ala-Too as a teaching theme.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Разберите вход в студенческий портал. Поля, подписи, кнопка и сообщение пользователю относятся к интерфейсу. Сервер проверяет учётные данные и права доступа, затем возвращает результат. Frontend показывает полученные данные. Уточните, что таблица описывает обычное веб-приложение: статическую HTML-страницу можно открыть локально без собственного backend. HTML иногда создаёт сервер, но отображает его браузер. Спросите: «Кто должен окончательно проверить, может ли студент видеть чужие оценки?» Ответ: сервер. Frontend не является границей безопасности.</a:t>
            </a:r>
          </a:p>
          <a:p>
            <a:endParaRPr/>
          </a:p>
          <a:p>
            <a:r>
              <a:t>Sources</a:t>
            </a:r>
          </a:p>
          <a:p>
            <a:r>
              <a:t>https://developer.mozilla.org/en-US/docs/Learn_web_development/Getting_started/Web_standards/How_the_web_works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Дайте один пример: название университета оформляем как h1 средствами HTML. Его цвет и отступы задаём CSS. Загрузку нового расписания без полной перезагрузки страницы можно запрограммировать на JavaScript. Нельзя говорить, что без JavaScript страница вообще не взаимодействует с пользователем: ссылки, формы и details имеют встроенное поведение браузера. Сегодня мы пишем только HTML. Спросите: «Какая технология нужна, чтобы изменить цвет заголовка? А чтобы обозначить, что это заголовок?»</a:t>
            </a:r>
          </a:p>
          <a:p>
            <a:endParaRPr/>
          </a:p>
          <a:p>
            <a:r>
              <a:t>Sources</a:t>
            </a:r>
          </a:p>
          <a:p>
            <a:r>
              <a:t>https://developer.mozilla.org/en-US/docs/Learn_web_development/Getting_started/Web_standards/How_the_web_works</a:t>
            </a:r>
          </a:p>
          <a:p>
            <a:r>
              <a:t>https://developer.mozilla.org/en-US/docs/Learn_web_development/Getting_started/Your_first_website/Creating_the_content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Демонстрация, 3–4 минуты. Создайте папку alatoo-lesson. Откройте её в VS Code и создайте index.html. Убедитесь, что расширение действительно .html, а не .html.txt. Сохраните файл и откройте его двойным щелчком или через браузер. После изменения кода нужно сохранить файл и обновить страницу. Сочетания клавиш для Windows: Ctrl+S и Ctrl+R. Для macOS используйте Command. Расширение Live Server удобно, но для сегодняшнего статического HTML не обязательно.</a:t>
            </a:r>
          </a:p>
          <a:p>
            <a:endParaRPr/>
          </a:p>
          <a:p>
            <a:r>
              <a:t>Sources</a:t>
            </a:r>
          </a:p>
          <a:p>
            <a:r>
              <a:t>https://developer.mozilla.org/en-US/docs/Learn_web_development/Getting_started/Your_first_website/Creating_the_content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Расшифруйте название HTML. HyperText означает, что документы могут ссылаться друг на друга. Markup Language означает язык разметки: с помощью элементов мы обозначаем смысл содержимого. В первом примере h1 задаёт главный заголовок, p обозначает абзац. Браузер применяет к ним стандартное оформление, даже если CSS отсутствует. Попросите студента изменить содержимое абзаца, сохранить и обновить страницу. Не называйте HTML языком программирования с вычислениями и условиями: это язык разметки.</a:t>
            </a:r>
          </a:p>
          <a:p>
            <a:endParaRPr/>
          </a:p>
          <a:p>
            <a:r>
              <a:t>Sources</a:t>
            </a:r>
          </a:p>
          <a:p>
            <a:r>
              <a:t>https://developer.mozilla.org/en-US/docs/Learn_web_development/Getting_started/Your_first_website/Creating_the_content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Укажите на три части примера. Открывающий тег p начинает абзац, содержимое читается на странице, закрывающий тег содержит косую черту. Всё вместе образует элемент. Спросите: «Где здесь тег? Где весь элемент?» Большинство изучаемых сегодня элементов имеют пару тегов. Но существуют пустые элементы, например img, meta и br: закрывающий тег им не нужен. Это не означает, что можно пропускать закрывающие теги у любых элементов. Во время обучения записываем их явно.</a:t>
            </a:r>
          </a:p>
          <a:p>
            <a:endParaRPr/>
          </a:p>
          <a:p>
            <a:r>
              <a:t>Sources</a:t>
            </a:r>
          </a:p>
          <a:p>
            <a:r>
              <a:t>https://developer.mozilla.org/en-US/docs/Learn_web_development/Core/Structuring_content/Basic_HTML_syntax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Атрибуты обычно записывают в открывающем теге. Здесь href задаёт адрес, на который ведёт ссылка. Равенство соединяет имя и значение, кавычки окружают значение. Сама надпись Visit Ala-Too находится между открывающим и закрывающим тегами. Спросите, что поменяется, если изменить только надпись. Затем поменяйте href и проверьте переход. Уточнение для преподавателя: не каждый атрибут требует текстового значения, например required является логическим атрибутом. На первом занятии достаточно формы имя="значение".</a:t>
            </a:r>
          </a:p>
          <a:p>
            <a:endParaRPr/>
          </a:p>
          <a:p>
            <a:r>
              <a:t>Sources</a:t>
            </a:r>
          </a:p>
          <a:p>
            <a:r>
              <a:t>https://developer.mozilla.org/en-US/docs/Learn_web_development/Core/Structuring_content/Basic_HTML_syntax</a:t>
            </a:r>
          </a:p>
          <a:p>
            <a:r>
              <a:t>https://developer.mozilla.org/en-US/docs/Learn_web_development/Core/Structuring_content/Creating_links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Разберите каркас сверху вниз. DOCTYPE является объявлением, а не HTML-тегом. html охватывает документ, lang указывает язык. head содержит служебные сведения, включая кодировку и название вкладки. body содержит видимое содержимое. UTF-8 нужен в том числе для корректной кириллицы. Поменяйте title, затем h1: попросите студентов объяснить, где они увидели каждое изменение. Для дальнейшей работы на мобильных устройствах добавьте в head строку &lt;meta name="viewport" content="width=device-width, initial-scale=1.0"&gt;. На слайде сокращённый, но рабочий каркас. Для фрагмента на русском можно указать lang="ru".</a:t>
            </a:r>
          </a:p>
          <a:p>
            <a:endParaRPr/>
          </a:p>
          <a:p>
            <a:r>
              <a:t>Sources</a:t>
            </a:r>
          </a:p>
          <a:p>
            <a:r>
              <a:t>https://developer.mozilla.org/en-US/docs/Learn_web_development/Core/Structuring_content/Basic_HTML_syntax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Сравните структуру страницы с оглавлением книги. h1 — главная тема страницы, h2 — раздел, h3 — подраздел. На первом занятии достаточно h1, h2, h3 и p. Не выбирайте h6 только ради мелкого размера. Не используйте заголовок вместо обычного абзаца ради жирного начертания. Покажите студентам, как вложенность тем остаётся понятной даже без CSS. Отдельно можно упомянуть strong для важности и em для смыслового ударения, но не перегружайте основной список.</a:t>
            </a:r>
          </a:p>
          <a:p>
            <a:endParaRPr/>
          </a:p>
          <a:p>
            <a:r>
              <a:t>Sources</a:t>
            </a:r>
          </a:p>
          <a:p>
            <a:r>
              <a:t>https://developer.mozilla.org/en-US/docs/Learn_web_development/Core/Structuring_content/Headings_and_paragraphs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Сначала продемонстрируйте абсолютную ссылку на сайт университета. Затем создайте внутреннюю ссылку. В href после решётки записывается идентификатор, у целевого заголовка этот идентификатор задаётся через id. На странице каждый id должен быть уникальным. Подберите понятный текст ссылки, например University website, а не Click here. Попросите студентов сделать раздел Student clubs и пункт меню, который ведёт к нему. Если переход визуально незаметен, добавьте содержимое между ссылкой и разделом, чтобы появилась прокрутка.</a:t>
            </a:r>
          </a:p>
          <a:p>
            <a:endParaRPr/>
          </a:p>
          <a:p>
            <a:r>
              <a:t>Sources</a:t>
            </a:r>
          </a:p>
          <a:p>
            <a:r>
              <a:t>https://developer.mozilla.org/en-US/docs/Learn_web_development/Core/Structuring_content/Creating_links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Попросите студентов положить собственное разрешённое для использования фото в папку images рядом с index.html. Имя файла должно совпадать с путём в src, включая расширение и регистр. Объясните, что alt описывает полезный смысл изображения, а не просто слово «картинка». Он нужен, когда изображение недоступно, и для программ экранного доступа. Для чисто декоративного изображения используют пустой alt. img — пустой элемент, писать &lt;/img&gt; не нужно. Значение width задаёт ширину, а при наличии размеров исходника полезно также задавать height. На слайде путь к учебному файлу: фото нужно добавить самостоятельно.</a:t>
            </a:r>
          </a:p>
          <a:p>
            <a:endParaRPr/>
          </a:p>
          <a:p>
            <a:r>
              <a:t>Sources</a:t>
            </a:r>
          </a:p>
          <a:p>
            <a:r>
              <a:t>https://developer.mozilla.org/en-US/docs/Learn_web_development/Core/Structuring_content/HTML_images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Объясните разницу через два примера. В перечне клубов порядок не является инструкцией, поэтому подходит ul. В последовательности действий используем ol. Каждый пункт входит в li. Спросите: «Какой список подойдёт для расписанного по шагам задания?» Попросите добавить третий пункт в оба списка. Продемонстрируйте вложенность: li находится внутри ul или ol, а вложенный список должен находиться внутри соответствующего li. Маркеры, цифры и отступы браузер показывает автоматически. Для управления их оформлением позже используем CSS.</a:t>
            </a:r>
          </a:p>
          <a:p>
            <a:endParaRPr/>
          </a:p>
          <a:p>
            <a:r>
              <a:t>Sources</a:t>
            </a:r>
          </a:p>
          <a:p>
            <a:r>
              <a:t>https://developer.mozilla.org/en-US/docs/Learn_web_development/Getting_started/Your_first_website/Creating_the_content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Это краткий обзор структуры, а не список для немедленного заучивания. Header содержит вводную часть, nav — основную навигацию, main — главное уникальное содержимое, section — тематический раздел, обычно с заголовком, footer — завершающую информацию. В рабочем документе вместо многоточий будет настоящее содержимое. Эти теги не расставляют блоки автоматически по красивому макету: за оформление отвечает CSS. В полном учебном index.html покажите те же элементы и их заголовки. Если времени мало, перенесите подробный разбор семантики на следующее занятие.</a:t>
            </a:r>
          </a:p>
          <a:p>
            <a:endParaRPr/>
          </a:p>
          <a:p>
            <a:r>
              <a:t>Sources</a:t>
            </a:r>
          </a:p>
          <a:p>
            <a:r>
              <a:t>https://developer.mozilla.org/en-US/docs/Learn_web_development/Core/Structuring_content/Structuring_documents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Разберите три типичных проблемы. Первая: файл выглядит как HTML, но на самом деле имеет расширение .txt. Вторая: нарушена вложенность. В ошибочном примере p закрывается раньше strong. Исправленный пример закрывает strong внутри p. Браузер может попытаться исправить неверную разметку, но это не делает исходный код правильным. Третья: неверный путь к изображению. Проверьте папку, точное имя и расширение. Попросите группу найти ошибку до того, как покажете правильный вариант в редакторе. Не создавайте реальные ошибки в готовом справочнике без последующего исправления.</a:t>
            </a:r>
          </a:p>
          <a:p>
            <a:endParaRPr/>
          </a:p>
          <a:p>
            <a:r>
              <a:t>Sources</a:t>
            </a:r>
          </a:p>
          <a:p>
            <a:r>
              <a:t>https://developer.mozilla.org/en-US/docs/Learn_web_development/Core/Structuring_content/Basic_HTML_syntax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Обсуждение, 4–5 минут. Ответ 1: Frontend создаёт интерфейс, который пользователь видит и использует в браузере. Ответ 2: тег — часть записи разметки, элемент — вся конструкция с содержимым, если оно есть. Ответ 3: title виден на вкладке и используется как название документа, h1 отображается в содержимом страницы. Ответ 4: href задаёт адрес ссылки, src — источник ресурса, alt — текстовую альтернативу изображению. Попросите двух студентов показать свои страницы и объяснить выбранные теги. На следующем занятии можно добавить CSS и сравнить внешний вид той же HTML-структуры. Таблицы, формы и остальные теги из большого файла изучайте отдельными темами.</a:t>
            </a:r>
          </a:p>
          <a:p>
            <a:endParaRPr/>
          </a:p>
          <a:p>
            <a:r>
              <a:t>Sources</a:t>
            </a:r>
          </a:p>
          <a:p>
            <a:r>
              <a:t>https://developer.mozilla.org/en-US/docs/Learn_web_development/Core/Structuring_content/Basic_HTML_syntax</a:t>
            </a:r>
          </a:p>
          <a:p>
            <a:r>
              <a:t>https://developer.mozilla.org/en-US/docs/Learn_web_development/Core/Structuring_content/Creating_links</a:t>
            </a:r>
          </a:p>
          <a:p>
            <a:r>
              <a:t>https://developer.mozilla.org/en-US/docs/Learn_web_development/Core/Structuring_content/HTML_images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9" name="01">
            <a:extLst>
              <a:ext uri="{FF2B5EF4-FFF2-40B4-BE49-F238E27FC236}">
                <a16:creationId xmlns:a16="http://schemas.microsoft.com/office/drawing/2014/main" id="{841F48C9-1418-481E-8947-01690A022710}"/>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01</a:t>
            </a:r>
          </a:p>
        </p:txBody>
      </p:sp>
      <p:pic>
        <p:nvPicPr>
          <p:cNvPr id="10" name="Рисунок 9"/>
          <p:cNvPicPr>
            <a:picLocks noChangeAspect="1"/>
          </p:cNvPicPr>
          <p:nvPr/>
        </p:nvPicPr>
        <p:blipFill>
          <a:blip r:embed="rId3"/>
          <a:srcRect t="27" b="27"/>
          <a:stretch>
            <a:fillRect/>
          </a:stretch>
        </p:blipFill>
        <p:spPr>
          <a:xfrm>
            <a:off x="0" y="0"/>
            <a:ext cx="12192000" cy="6858000"/>
          </a:xfrm>
          <a:prstGeom prst="rect">
            <a:avLst/>
          </a:prstGeom>
        </p:spPr>
      </p:pic>
      <p:sp>
        <p:nvSpPr>
          <p:cNvPr id="3" name="ALA-TOO INTERNATIONAL UNIVERSITY">
            <a:extLst>
              <a:ext uri="{FF2B5EF4-FFF2-40B4-BE49-F238E27FC236}">
                <a16:creationId xmlns:a16="http://schemas.microsoft.com/office/drawing/2014/main" id="{39C7483C-20BD-47C8-B593-3FC0D61BCCC7}"/>
              </a:ext>
            </a:extLst>
          </p:cNvPr>
          <p:cNvSpPr>
            <a:spLocks noGrp="1"/>
          </p:cNvSpPr>
          <p:nvPr/>
        </p:nvSpPr>
        <p:spPr>
          <a:xfrm>
            <a:off x="628650" y="495300"/>
            <a:ext cx="6286500" cy="32385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ALA-TOO INTERNATIONAL UNIVERSITY</a:t>
            </a:r>
          </a:p>
        </p:txBody>
      </p:sp>
      <p:sp>
        <p:nvSpPr>
          <p:cNvPr id="4" name="Introduction to">
            <a:extLst>
              <a:ext uri="{FF2B5EF4-FFF2-40B4-BE49-F238E27FC236}">
                <a16:creationId xmlns:a16="http://schemas.microsoft.com/office/drawing/2014/main" id="{6B9074E6-C84D-4B3F-BE90-50C67ECED5CC}"/>
              </a:ext>
            </a:extLst>
          </p:cNvPr>
          <p:cNvSpPr>
            <a:spLocks noGrp="1"/>
          </p:cNvSpPr>
          <p:nvPr/>
        </p:nvSpPr>
        <p:spPr>
          <a:xfrm>
            <a:off x="609600" y="1952625"/>
            <a:ext cx="6096000" cy="514350"/>
          </a:xfrm>
          <a:prstGeom prst="rect">
            <a:avLst/>
          </a:prstGeom>
          <a:noFill/>
          <a:ln w="0">
            <a:noFill/>
          </a:ln>
        </p:spPr>
        <p:txBody>
          <a:bodyPr wrap="none" lIns="0" tIns="0" rIns="0" bIns="0">
            <a:noAutofit/>
          </a:bodyPr>
          <a:lstStyle/>
          <a:p>
            <a:pPr>
              <a:defRPr sz="2550" b="0">
                <a:solidFill>
                  <a:srgbClr val="F5F5EE"/>
                </a:solidFill>
                <a:latin typeface="DejaVu Sans"/>
                <a:ea typeface="DejaVu Sans"/>
                <a:cs typeface="DejaVu Sans"/>
              </a:defRPr>
            </a:pPr>
            <a:r>
              <a:rPr sz="2550" b="0">
                <a:solidFill>
                  <a:srgbClr val="F5F5EE"/>
                </a:solidFill>
                <a:latin typeface="DejaVu Sans"/>
                <a:ea typeface="DejaVu Sans"/>
                <a:cs typeface="DejaVu Sans"/>
              </a:rPr>
              <a:t>Introduction to</a:t>
            </a:r>
          </a:p>
        </p:txBody>
      </p:sp>
      <p:sp>
        <p:nvSpPr>
          <p:cNvPr id="5" name="Frontend">
            <a:extLst>
              <a:ext uri="{FF2B5EF4-FFF2-40B4-BE49-F238E27FC236}">
                <a16:creationId xmlns:a16="http://schemas.microsoft.com/office/drawing/2014/main" id="{B2299E80-1155-4614-BA5D-3BB13C106C8C}"/>
              </a:ext>
            </a:extLst>
          </p:cNvPr>
          <p:cNvSpPr>
            <a:spLocks noGrp="1"/>
          </p:cNvSpPr>
          <p:nvPr/>
        </p:nvSpPr>
        <p:spPr>
          <a:xfrm>
            <a:off x="552450" y="2514600"/>
            <a:ext cx="6762750" cy="1162050"/>
          </a:xfrm>
          <a:prstGeom prst="rect">
            <a:avLst/>
          </a:prstGeom>
          <a:noFill/>
          <a:ln w="0">
            <a:noFill/>
          </a:ln>
        </p:spPr>
        <p:txBody>
          <a:bodyPr wrap="none" lIns="0" tIns="0" rIns="0" bIns="0">
            <a:noAutofit/>
          </a:bodyPr>
          <a:lstStyle/>
          <a:p>
            <a:pPr>
              <a:defRPr sz="7050" b="1">
                <a:solidFill>
                  <a:srgbClr val="F5F5EE"/>
                </a:solidFill>
                <a:latin typeface="DejaVu Sans"/>
                <a:ea typeface="DejaVu Sans"/>
                <a:cs typeface="DejaVu Sans"/>
              </a:defRPr>
            </a:pPr>
            <a:r>
              <a:rPr sz="7050" b="1">
                <a:solidFill>
                  <a:srgbClr val="F5F5EE"/>
                </a:solidFill>
                <a:latin typeface="DejaVu Sans"/>
                <a:ea typeface="DejaVu Sans"/>
                <a:cs typeface="DejaVu Sans"/>
              </a:rPr>
              <a:t>Frontend</a:t>
            </a:r>
          </a:p>
        </p:txBody>
      </p:sp>
      <p:sp>
        <p:nvSpPr>
          <p:cNvPr id="6" name="&amp; HTML">
            <a:extLst>
              <a:ext uri="{FF2B5EF4-FFF2-40B4-BE49-F238E27FC236}">
                <a16:creationId xmlns:a16="http://schemas.microsoft.com/office/drawing/2014/main" id="{FF3BF0A1-D245-4F2B-9D33-D68135ED8B01}"/>
              </a:ext>
            </a:extLst>
          </p:cNvPr>
          <p:cNvSpPr>
            <a:spLocks noGrp="1"/>
          </p:cNvSpPr>
          <p:nvPr/>
        </p:nvSpPr>
        <p:spPr>
          <a:xfrm>
            <a:off x="571500" y="3505200"/>
            <a:ext cx="6477000" cy="1219200"/>
          </a:xfrm>
          <a:prstGeom prst="rect">
            <a:avLst/>
          </a:prstGeom>
          <a:noFill/>
          <a:ln w="0">
            <a:noFill/>
          </a:ln>
        </p:spPr>
        <p:txBody>
          <a:bodyPr wrap="none" lIns="0" tIns="0" rIns="0" bIns="0">
            <a:noAutofit/>
          </a:bodyPr>
          <a:lstStyle/>
          <a:p>
            <a:pPr>
              <a:defRPr sz="7050" b="1">
                <a:solidFill>
                  <a:srgbClr val="D3F879"/>
                </a:solidFill>
                <a:latin typeface="DejaVu Sans"/>
                <a:ea typeface="DejaVu Sans"/>
                <a:cs typeface="DejaVu Sans"/>
              </a:defRPr>
            </a:pPr>
            <a:r>
              <a:rPr sz="7050" b="1">
                <a:solidFill>
                  <a:srgbClr val="D3F879"/>
                </a:solidFill>
                <a:latin typeface="DejaVu Sans"/>
                <a:ea typeface="DejaVu Sans"/>
                <a:cs typeface="DejaVu Sans"/>
              </a:rPr>
              <a:t>&amp; HTML</a:t>
            </a:r>
          </a:p>
        </p:txBody>
      </p:sp>
      <p:sp>
        <p:nvSpPr>
          <p:cNvPr id="7" name="Введение во Frontend и основы HTML">
            <a:extLst>
              <a:ext uri="{FF2B5EF4-FFF2-40B4-BE49-F238E27FC236}">
                <a16:creationId xmlns:a16="http://schemas.microsoft.com/office/drawing/2014/main" id="{B5B8D327-40B7-48E6-94BC-8CD763A6360F}"/>
              </a:ext>
            </a:extLst>
          </p:cNvPr>
          <p:cNvSpPr>
            <a:spLocks noGrp="1"/>
          </p:cNvSpPr>
          <p:nvPr/>
        </p:nvSpPr>
        <p:spPr>
          <a:xfrm>
            <a:off x="647700" y="5019675"/>
            <a:ext cx="6191250" cy="400050"/>
          </a:xfrm>
          <a:prstGeom prst="rect">
            <a:avLst/>
          </a:prstGeom>
          <a:noFill/>
          <a:ln w="0">
            <a:noFill/>
          </a:ln>
        </p:spPr>
        <p:txBody>
          <a:bodyPr wrap="none" lIns="0" tIns="0" rIns="0" bIns="0">
            <a:noAutofit/>
          </a:bodyPr>
          <a:lstStyle/>
          <a:p>
            <a:pPr>
              <a:defRPr sz="1725" b="0">
                <a:solidFill>
                  <a:srgbClr val="ABB7B8"/>
                </a:solidFill>
                <a:latin typeface="DejaVu Sans"/>
                <a:ea typeface="DejaVu Sans"/>
                <a:cs typeface="DejaVu Sans"/>
              </a:defRPr>
            </a:pPr>
            <a:r>
              <a:rPr sz="1725" b="0">
                <a:solidFill>
                  <a:srgbClr val="ABB7B8"/>
                </a:solidFill>
                <a:latin typeface="DejaVu Sans"/>
                <a:ea typeface="DejaVu Sans"/>
                <a:cs typeface="DejaVu Sans"/>
              </a:rPr>
              <a:t>Введение во Frontend и основы HTML</a:t>
            </a:r>
          </a:p>
        </p:txBody>
      </p:sp>
      <p:sp>
        <p:nvSpPr>
          <p:cNvPr id="8" name="Web Programming / Lesson 01">
            <a:extLst>
              <a:ext uri="{FF2B5EF4-FFF2-40B4-BE49-F238E27FC236}">
                <a16:creationId xmlns:a16="http://schemas.microsoft.com/office/drawing/2014/main" id="{1A1D3C49-05C6-4D2A-A1DF-E095B02C4155}"/>
              </a:ext>
            </a:extLst>
          </p:cNvPr>
          <p:cNvSpPr>
            <a:spLocks noGrp="1"/>
          </p:cNvSpPr>
          <p:nvPr/>
        </p:nvSpPr>
        <p:spPr>
          <a:xfrm>
            <a:off x="647700" y="6200775"/>
            <a:ext cx="5905500" cy="333375"/>
          </a:xfrm>
          <a:prstGeom prst="rect">
            <a:avLst/>
          </a:prstGeom>
          <a:noFill/>
          <a:ln w="0">
            <a:noFill/>
          </a:ln>
        </p:spPr>
        <p:txBody>
          <a:bodyPr wrap="none" lIns="0" tIns="0" rIns="0" bIns="0">
            <a:noAutofit/>
          </a:bodyPr>
          <a:lstStyle/>
          <a:p>
            <a:pPr>
              <a:defRPr sz="1575" b="0">
                <a:solidFill>
                  <a:srgbClr val="ABB7B8"/>
                </a:solidFill>
                <a:latin typeface="DejaVu Sans"/>
                <a:ea typeface="DejaVu Sans"/>
                <a:cs typeface="DejaVu Sans"/>
              </a:defRPr>
            </a:pPr>
            <a:r>
              <a:rPr sz="1575" b="0">
                <a:solidFill>
                  <a:srgbClr val="ABB7B8"/>
                </a:solidFill>
                <a:latin typeface="DejaVu Sans"/>
                <a:ea typeface="DejaVu Sans"/>
                <a:cs typeface="DejaVu Sans"/>
              </a:rPr>
              <a:t>Web Programming / Lesson 01</a:t>
            </a:r>
          </a:p>
        </p:txBody>
      </p:sp>
    </p:spTree>
    <p:extLst>
      <p:ext uri="{BB962C8B-B14F-4D97-AF65-F5344CB8AC3E}">
        <p14:creationId xmlns:p14="http://schemas.microsoft.com/office/powerpoint/2010/main" val="804670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3E9"/>
        </a:solidFill>
        <a:effectLst/>
      </p:bgPr>
    </p:bg>
    <p:spTree>
      <p:nvGrpSpPr>
        <p:cNvPr id="1" name=""/>
        <p:cNvGrpSpPr/>
        <p:nvPr/>
      </p:nvGrpSpPr>
      <p:grpSpPr>
        <a:xfrm>
          <a:off x="0" y="0"/>
          <a:ext cx="0" cy="0"/>
          <a:chOff x="0" y="0"/>
          <a:chExt cx="0" cy="0"/>
        </a:xfrm>
      </p:grpSpPr>
      <p:sp>
        <p:nvSpPr>
          <p:cNvPr id="10" name="Today’s outcome">
            <a:extLst>
              <a:ext uri="{FF2B5EF4-FFF2-40B4-BE49-F238E27FC236}">
                <a16:creationId xmlns:a16="http://schemas.microsoft.com/office/drawing/2014/main" id="{8F29FA56-E1B6-409F-9552-5E39E81C27B0}"/>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182121"/>
                </a:solidFill>
                <a:latin typeface="DejaVu Sans"/>
                <a:ea typeface="DejaVu Sans"/>
                <a:cs typeface="DejaVu Sans"/>
              </a:defRPr>
            </a:pPr>
            <a:r>
              <a:rPr sz="3750" b="1">
                <a:solidFill>
                  <a:srgbClr val="182121"/>
                </a:solidFill>
                <a:latin typeface="DejaVu Sans"/>
                <a:ea typeface="DejaVu Sans"/>
                <a:cs typeface="DejaVu Sans"/>
              </a:rPr>
              <a:t>Today’s outcome</a:t>
            </a:r>
          </a:p>
        </p:txBody>
      </p:sp>
      <p:sp>
        <p:nvSpPr>
          <p:cNvPr id="2" name="К концу занятия у вас будет собственная HTML-страница">
            <a:extLst>
              <a:ext uri="{FF2B5EF4-FFF2-40B4-BE49-F238E27FC236}">
                <a16:creationId xmlns:a16="http://schemas.microsoft.com/office/drawing/2014/main" id="{047C847A-9758-4766-AF0B-25E9EF9DF993}"/>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52605E"/>
                </a:solidFill>
                <a:latin typeface="DejaVu Sans"/>
                <a:ea typeface="DejaVu Sans"/>
                <a:cs typeface="DejaVu Sans"/>
              </a:defRPr>
            </a:pPr>
            <a:r>
              <a:rPr sz="1500" b="0">
                <a:solidFill>
                  <a:srgbClr val="52605E"/>
                </a:solidFill>
                <a:latin typeface="DejaVu Sans"/>
                <a:ea typeface="DejaVu Sans"/>
                <a:cs typeface="DejaVu Sans"/>
              </a:rPr>
              <a:t>К концу занятия у вас будет собственная HTML-страница</a:t>
            </a:r>
          </a:p>
        </p:txBody>
      </p:sp>
      <p:sp>
        <p:nvSpPr>
          <p:cNvPr id="3" name="02">
            <a:extLst>
              <a:ext uri="{FF2B5EF4-FFF2-40B4-BE49-F238E27FC236}">
                <a16:creationId xmlns:a16="http://schemas.microsoft.com/office/drawing/2014/main" id="{4DD2E4A3-33AA-46AD-A9F7-D4D1C8DCB2A9}"/>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52605E"/>
                </a:solidFill>
                <a:latin typeface="DejaVu Sans"/>
                <a:ea typeface="DejaVu Sans"/>
                <a:cs typeface="DejaVu Sans"/>
              </a:defRPr>
            </a:pPr>
            <a:r>
              <a:rPr sz="1275" b="0">
                <a:solidFill>
                  <a:srgbClr val="52605E"/>
                </a:solidFill>
                <a:latin typeface="DejaVu Sans"/>
                <a:ea typeface="DejaVu Sans"/>
                <a:cs typeface="DejaVu Sans"/>
              </a:rPr>
              <a:t>02</a:t>
            </a:r>
          </a:p>
        </p:txBody>
      </p:sp>
      <p:sp>
        <p:nvSpPr>
          <p:cNvPr id="4" name="One page. Your code.">
            <a:extLst>
              <a:ext uri="{FF2B5EF4-FFF2-40B4-BE49-F238E27FC236}">
                <a16:creationId xmlns:a16="http://schemas.microsoft.com/office/drawing/2014/main" id="{C4B84F3B-D462-4DD5-AA8D-112012DB6CFB}"/>
              </a:ext>
            </a:extLst>
          </p:cNvPr>
          <p:cNvSpPr>
            <a:spLocks noGrp="1"/>
          </p:cNvSpPr>
          <p:nvPr/>
        </p:nvSpPr>
        <p:spPr>
          <a:xfrm>
            <a:off x="609600" y="2095500"/>
            <a:ext cx="10858500" cy="914400"/>
          </a:xfrm>
          <a:prstGeom prst="rect">
            <a:avLst/>
          </a:prstGeom>
          <a:noFill/>
          <a:ln w="0">
            <a:noFill/>
          </a:ln>
        </p:spPr>
        <p:txBody>
          <a:bodyPr wrap="none" lIns="0" tIns="0" rIns="0" bIns="0">
            <a:noAutofit/>
          </a:bodyPr>
          <a:lstStyle/>
          <a:p>
            <a:pPr>
              <a:defRPr sz="5100" b="1">
                <a:solidFill>
                  <a:srgbClr val="182121"/>
                </a:solidFill>
                <a:latin typeface="DejaVu Sans"/>
                <a:ea typeface="DejaVu Sans"/>
                <a:cs typeface="DejaVu Sans"/>
              </a:defRPr>
            </a:pPr>
            <a:endParaRPr sz="5100" b="1" dirty="0">
              <a:solidFill>
                <a:srgbClr val="182121"/>
              </a:solidFill>
              <a:latin typeface="DejaVu Sans"/>
              <a:ea typeface="DejaVu Sans"/>
              <a:cs typeface="DejaVu Sans"/>
            </a:endParaRPr>
          </a:p>
        </p:txBody>
      </p:sp>
      <p:sp>
        <p:nvSpPr>
          <p:cNvPr id="5" name="index.html">
            <a:extLst>
              <a:ext uri="{FF2B5EF4-FFF2-40B4-BE49-F238E27FC236}">
                <a16:creationId xmlns:a16="http://schemas.microsoft.com/office/drawing/2014/main" id="{F08445E0-8DAE-4699-A217-ED8F7B01CC25}"/>
              </a:ext>
            </a:extLst>
          </p:cNvPr>
          <p:cNvSpPr>
            <a:spLocks noGrp="1"/>
          </p:cNvSpPr>
          <p:nvPr/>
        </p:nvSpPr>
        <p:spPr>
          <a:xfrm>
            <a:off x="647700" y="3133725"/>
            <a:ext cx="7429500" cy="876300"/>
          </a:xfrm>
          <a:prstGeom prst="rect">
            <a:avLst/>
          </a:prstGeom>
          <a:noFill/>
          <a:ln w="0">
            <a:noFill/>
          </a:ln>
        </p:spPr>
        <p:txBody>
          <a:bodyPr wrap="none" lIns="0" tIns="0" rIns="0" bIns="0">
            <a:noAutofit/>
          </a:bodyPr>
          <a:lstStyle/>
          <a:p>
            <a:pPr>
              <a:defRPr sz="4350" b="0">
                <a:solidFill>
                  <a:srgbClr val="3E6553"/>
                </a:solidFill>
                <a:latin typeface="DejaVu Sans Mono"/>
                <a:ea typeface="DejaVu Sans Mono"/>
                <a:cs typeface="DejaVu Sans Mono"/>
              </a:defRPr>
            </a:pPr>
            <a:endParaRPr sz="4350" b="0" dirty="0">
              <a:solidFill>
                <a:srgbClr val="3E6553"/>
              </a:solidFill>
              <a:latin typeface="DejaVu Sans Mono"/>
              <a:ea typeface="DejaVu Sans Mono"/>
              <a:cs typeface="DejaVu Sans Mono"/>
            </a:endParaRPr>
          </a:p>
        </p:txBody>
      </p:sp>
      <p:sp>
        <p:nvSpPr>
          <p:cNvPr id="6" name="Explain what frontend does">
            <a:extLst>
              <a:ext uri="{FF2B5EF4-FFF2-40B4-BE49-F238E27FC236}">
                <a16:creationId xmlns:a16="http://schemas.microsoft.com/office/drawing/2014/main" id="{32F59652-B546-4117-B996-2A0DBDDE73CA}"/>
              </a:ext>
            </a:extLst>
          </p:cNvPr>
          <p:cNvSpPr>
            <a:spLocks noGrp="1"/>
          </p:cNvSpPr>
          <p:nvPr/>
        </p:nvSpPr>
        <p:spPr>
          <a:xfrm>
            <a:off x="666750" y="2841117"/>
            <a:ext cx="5238750" cy="398145"/>
          </a:xfrm>
          <a:prstGeom prst="rect">
            <a:avLst/>
          </a:prstGeom>
          <a:noFill/>
          <a:ln w="0">
            <a:noFill/>
          </a:ln>
        </p:spPr>
        <p:txBody>
          <a:bodyPr wrap="none" lIns="0" tIns="0" rIns="0" bIns="0">
            <a:noAutofit/>
          </a:bodyPr>
          <a:lstStyle/>
          <a:p>
            <a:pPr>
              <a:defRPr sz="2100" b="1">
                <a:solidFill>
                  <a:srgbClr val="182121"/>
                </a:solidFill>
                <a:latin typeface="DejaVu Sans"/>
                <a:ea typeface="DejaVu Sans"/>
                <a:cs typeface="DejaVu Sans"/>
              </a:defRPr>
            </a:pPr>
            <a:r>
              <a:rPr sz="2100" b="1" dirty="0">
                <a:solidFill>
                  <a:srgbClr val="182121"/>
                </a:solidFill>
                <a:latin typeface="DejaVu Sans"/>
                <a:ea typeface="DejaVu Sans"/>
                <a:cs typeface="DejaVu Sans"/>
              </a:rPr>
              <a:t>Explain what frontend does</a:t>
            </a:r>
          </a:p>
        </p:txBody>
      </p:sp>
      <p:sp>
        <p:nvSpPr>
          <p:cNvPr id="7" name="Понять, за что отвечает Frontend">
            <a:extLst>
              <a:ext uri="{FF2B5EF4-FFF2-40B4-BE49-F238E27FC236}">
                <a16:creationId xmlns:a16="http://schemas.microsoft.com/office/drawing/2014/main" id="{58DDC90D-B8D6-4B65-910B-480D5CD75097}"/>
              </a:ext>
            </a:extLst>
          </p:cNvPr>
          <p:cNvSpPr>
            <a:spLocks noGrp="1"/>
          </p:cNvSpPr>
          <p:nvPr/>
        </p:nvSpPr>
        <p:spPr>
          <a:xfrm>
            <a:off x="666750" y="3324987"/>
            <a:ext cx="5238750" cy="723900"/>
          </a:xfrm>
          <a:prstGeom prst="rect">
            <a:avLst/>
          </a:prstGeom>
          <a:noFill/>
          <a:ln w="0">
            <a:noFill/>
          </a:ln>
        </p:spPr>
        <p:txBody>
          <a:bodyPr wrap="none" lIns="0" tIns="0" rIns="0" bIns="0">
            <a:noAutofit/>
          </a:bodyPr>
          <a:lstStyle/>
          <a:p>
            <a:pPr>
              <a:defRPr sz="1500" b="0">
                <a:solidFill>
                  <a:srgbClr val="52605E"/>
                </a:solidFill>
                <a:latin typeface="DejaVu Sans"/>
                <a:ea typeface="DejaVu Sans"/>
                <a:cs typeface="DejaVu Sans"/>
              </a:defRPr>
            </a:pPr>
            <a:r>
              <a:rPr sz="1500" b="0">
                <a:solidFill>
                  <a:srgbClr val="52605E"/>
                </a:solidFill>
                <a:latin typeface="DejaVu Sans"/>
                <a:ea typeface="DejaVu Sans"/>
                <a:cs typeface="DejaVu Sans"/>
              </a:rPr>
              <a:t>Понять, за что отвечает Frontend</a:t>
            </a:r>
          </a:p>
        </p:txBody>
      </p:sp>
      <p:sp>
        <p:nvSpPr>
          <p:cNvPr id="8" name="Build a page about Ala-Too">
            <a:extLst>
              <a:ext uri="{FF2B5EF4-FFF2-40B4-BE49-F238E27FC236}">
                <a16:creationId xmlns:a16="http://schemas.microsoft.com/office/drawing/2014/main" id="{5F2CD499-807F-4B65-8864-F4A8AE27658F}"/>
              </a:ext>
            </a:extLst>
          </p:cNvPr>
          <p:cNvSpPr>
            <a:spLocks noGrp="1"/>
          </p:cNvSpPr>
          <p:nvPr/>
        </p:nvSpPr>
        <p:spPr>
          <a:xfrm>
            <a:off x="6381750" y="3650742"/>
            <a:ext cx="5095875" cy="398145"/>
          </a:xfrm>
          <a:prstGeom prst="rect">
            <a:avLst/>
          </a:prstGeom>
          <a:noFill/>
          <a:ln w="0">
            <a:noFill/>
          </a:ln>
        </p:spPr>
        <p:txBody>
          <a:bodyPr wrap="none" lIns="0" tIns="0" rIns="0" bIns="0">
            <a:noAutofit/>
          </a:bodyPr>
          <a:lstStyle/>
          <a:p>
            <a:pPr>
              <a:defRPr sz="2100" b="1">
                <a:solidFill>
                  <a:srgbClr val="182121"/>
                </a:solidFill>
                <a:latin typeface="DejaVu Sans"/>
                <a:ea typeface="DejaVu Sans"/>
                <a:cs typeface="DejaVu Sans"/>
              </a:defRPr>
            </a:pPr>
            <a:r>
              <a:rPr sz="2100" b="1" dirty="0">
                <a:solidFill>
                  <a:srgbClr val="182121"/>
                </a:solidFill>
                <a:latin typeface="DejaVu Sans"/>
                <a:ea typeface="DejaVu Sans"/>
                <a:cs typeface="DejaVu Sans"/>
              </a:rPr>
              <a:t>Build a page about Ala-Too</a:t>
            </a:r>
          </a:p>
        </p:txBody>
      </p:sp>
      <p:sp>
        <p:nvSpPr>
          <p:cNvPr id="9" name="Создать страницу об Ala-Too">
            <a:extLst>
              <a:ext uri="{FF2B5EF4-FFF2-40B4-BE49-F238E27FC236}">
                <a16:creationId xmlns:a16="http://schemas.microsoft.com/office/drawing/2014/main" id="{C71169BA-D7C2-4926-A1E2-E6A73ED89CE3}"/>
              </a:ext>
            </a:extLst>
          </p:cNvPr>
          <p:cNvSpPr>
            <a:spLocks noGrp="1"/>
          </p:cNvSpPr>
          <p:nvPr/>
        </p:nvSpPr>
        <p:spPr>
          <a:xfrm>
            <a:off x="6381750" y="4134612"/>
            <a:ext cx="5095875" cy="723900"/>
          </a:xfrm>
          <a:prstGeom prst="rect">
            <a:avLst/>
          </a:prstGeom>
          <a:noFill/>
          <a:ln w="0">
            <a:noFill/>
          </a:ln>
        </p:spPr>
        <p:txBody>
          <a:bodyPr wrap="none" lIns="0" tIns="0" rIns="0" bIns="0">
            <a:noAutofit/>
          </a:bodyPr>
          <a:lstStyle/>
          <a:p>
            <a:pPr>
              <a:defRPr sz="1500" b="0">
                <a:solidFill>
                  <a:srgbClr val="52605E"/>
                </a:solidFill>
                <a:latin typeface="DejaVu Sans"/>
                <a:ea typeface="DejaVu Sans"/>
                <a:cs typeface="DejaVu Sans"/>
              </a:defRPr>
            </a:pPr>
            <a:r>
              <a:rPr sz="1500" b="0">
                <a:solidFill>
                  <a:srgbClr val="52605E"/>
                </a:solidFill>
                <a:latin typeface="DejaVu Sans"/>
                <a:ea typeface="DejaVu Sans"/>
                <a:cs typeface="DejaVu Sans"/>
              </a:rPr>
              <a:t>Создать страницу об Ala-Too</a:t>
            </a:r>
          </a:p>
        </p:txBody>
      </p:sp>
    </p:spTree>
    <p:extLst>
      <p:ext uri="{BB962C8B-B14F-4D97-AF65-F5344CB8AC3E}">
        <p14:creationId xmlns:p14="http://schemas.microsoft.com/office/powerpoint/2010/main" val="1199142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7" name="Frontend and backend">
            <a:extLst>
              <a:ext uri="{FF2B5EF4-FFF2-40B4-BE49-F238E27FC236}">
                <a16:creationId xmlns:a16="http://schemas.microsoft.com/office/drawing/2014/main" id="{86D3B489-B82B-4506-9906-E84585263CDE}"/>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Frontend and backend</a:t>
            </a:r>
          </a:p>
        </p:txBody>
      </p:sp>
      <p:sp>
        <p:nvSpPr>
          <p:cNvPr id="2" name="Интерфейс в браузере и работа на сервере">
            <a:extLst>
              <a:ext uri="{FF2B5EF4-FFF2-40B4-BE49-F238E27FC236}">
                <a16:creationId xmlns:a16="http://schemas.microsoft.com/office/drawing/2014/main" id="{3BD0504A-96D6-4DA3-AADD-A6BE1EE47C06}"/>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Интерфейс в браузере и работа на сервере</a:t>
            </a:r>
          </a:p>
        </p:txBody>
      </p:sp>
      <p:sp>
        <p:nvSpPr>
          <p:cNvPr id="3" name="03">
            <a:extLst>
              <a:ext uri="{FF2B5EF4-FFF2-40B4-BE49-F238E27FC236}">
                <a16:creationId xmlns:a16="http://schemas.microsoft.com/office/drawing/2014/main" id="{6781A428-AE93-4E71-B2BB-CA52B5E90832}"/>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03</a:t>
            </a:r>
          </a:p>
        </p:txBody>
      </p:sp>
      <p:graphicFrame>
        <p:nvGraphicFramePr>
          <p:cNvPr id="10" name="Таблица 9"/>
          <p:cNvGraphicFramePr/>
          <p:nvPr/>
        </p:nvGraphicFramePr>
        <p:xfrm>
          <a:off x="619125" y="2085975"/>
          <a:ext cx="10953750" cy="3314700"/>
        </p:xfrm>
        <a:graphic>
          <a:graphicData uri="http://schemas.openxmlformats.org/drawingml/2006/table">
            <a:tbl>
              <a:tblPr/>
              <a:tblGrid>
                <a:gridCol w="2952750">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4095750">
                  <a:extLst>
                    <a:ext uri="{9D8B030D-6E8A-4147-A177-3AD203B41FA5}">
                      <a16:colId xmlns:a16="http://schemas.microsoft.com/office/drawing/2014/main" val="20002"/>
                    </a:ext>
                  </a:extLst>
                </a:gridCol>
              </a:tblGrid>
              <a:tr h="609600">
                <a:tc>
                  <a:txBody>
                    <a:bodyPr/>
                    <a:lstStyle/>
                    <a:p>
                      <a:r>
                        <a:rPr sz="1875" b="1">
                          <a:solidFill>
                            <a:srgbClr val="D3F879"/>
                          </a:solidFill>
                          <a:latin typeface="DejaVu Sans"/>
                          <a:ea typeface="DejaVu Sans"/>
                          <a:cs typeface="DejaVu Sans"/>
                        </a:rPr>
                        <a:t>Student portal</a:t>
                      </a:r>
                    </a:p>
                  </a:txBody>
                  <a:tcPr>
                    <a:solidFill>
                      <a:srgbClr val="111719"/>
                    </a:solidFill>
                  </a:tcPr>
                </a:tc>
                <a:tc>
                  <a:txBody>
                    <a:bodyPr/>
                    <a:lstStyle/>
                    <a:p>
                      <a:r>
                        <a:rPr sz="1875" b="1">
                          <a:solidFill>
                            <a:srgbClr val="D3F879"/>
                          </a:solidFill>
                          <a:latin typeface="DejaVu Sans"/>
                          <a:ea typeface="DejaVu Sans"/>
                          <a:cs typeface="DejaVu Sans"/>
                        </a:rPr>
                        <a:t>Frontend</a:t>
                      </a:r>
                    </a:p>
                  </a:txBody>
                  <a:tcPr>
                    <a:solidFill>
                      <a:srgbClr val="111719"/>
                    </a:solidFill>
                  </a:tcPr>
                </a:tc>
                <a:tc>
                  <a:txBody>
                    <a:bodyPr/>
                    <a:lstStyle/>
                    <a:p>
                      <a:r>
                        <a:rPr sz="1875" b="1">
                          <a:solidFill>
                            <a:srgbClr val="D3F879"/>
                          </a:solidFill>
                          <a:latin typeface="DejaVu Sans"/>
                          <a:ea typeface="DejaVu Sans"/>
                          <a:cs typeface="DejaVu Sans"/>
                        </a:rPr>
                        <a:t>Backend</a:t>
                      </a:r>
                    </a:p>
                  </a:txBody>
                  <a:tcPr>
                    <a:solidFill>
                      <a:srgbClr val="111719"/>
                    </a:solidFill>
                  </a:tcPr>
                </a:tc>
                <a:extLst>
                  <a:ext uri="{0D108BD9-81ED-4DB2-BD59-A6C34878D82A}">
                    <a16:rowId xmlns:a16="http://schemas.microsoft.com/office/drawing/2014/main" val="10000"/>
                  </a:ext>
                </a:extLst>
              </a:tr>
              <a:tr h="800100">
                <a:tc>
                  <a:txBody>
                    <a:bodyPr/>
                    <a:lstStyle/>
                    <a:p>
                      <a:r>
                        <a:rPr sz="1800" b="0">
                          <a:solidFill>
                            <a:srgbClr val="F5F5EE"/>
                          </a:solidFill>
                          <a:latin typeface="DejaVu Sans"/>
                          <a:ea typeface="DejaVu Sans"/>
                          <a:cs typeface="DejaVu Sans"/>
                        </a:rPr>
                        <a:t>Where it runs</a:t>
                      </a:r>
                    </a:p>
                  </a:txBody>
                  <a:tcPr>
                    <a:solidFill>
                      <a:srgbClr val="111719"/>
                    </a:solidFill>
                  </a:tcPr>
                </a:tc>
                <a:tc>
                  <a:txBody>
                    <a:bodyPr/>
                    <a:lstStyle/>
                    <a:p>
                      <a:r>
                        <a:rPr sz="1800" b="0">
                          <a:solidFill>
                            <a:srgbClr val="F5F5EE"/>
                          </a:solidFill>
                          <a:latin typeface="DejaVu Sans"/>
                          <a:ea typeface="DejaVu Sans"/>
                          <a:cs typeface="DejaVu Sans"/>
                        </a:rPr>
                        <a:t>In the browser</a:t>
                      </a:r>
                    </a:p>
                  </a:txBody>
                  <a:tcPr>
                    <a:solidFill>
                      <a:srgbClr val="111719"/>
                    </a:solidFill>
                  </a:tcPr>
                </a:tc>
                <a:tc>
                  <a:txBody>
                    <a:bodyPr/>
                    <a:lstStyle/>
                    <a:p>
                      <a:r>
                        <a:rPr sz="1800" b="0">
                          <a:solidFill>
                            <a:srgbClr val="F5F5EE"/>
                          </a:solidFill>
                          <a:latin typeface="DejaVu Sans"/>
                          <a:ea typeface="DejaVu Sans"/>
                          <a:cs typeface="DejaVu Sans"/>
                        </a:rPr>
                        <a:t>On the server</a:t>
                      </a:r>
                    </a:p>
                  </a:txBody>
                  <a:tcPr>
                    <a:solidFill>
                      <a:srgbClr val="111719"/>
                    </a:solidFill>
                  </a:tcPr>
                </a:tc>
                <a:extLst>
                  <a:ext uri="{0D108BD9-81ED-4DB2-BD59-A6C34878D82A}">
                    <a16:rowId xmlns:a16="http://schemas.microsoft.com/office/drawing/2014/main" val="10001"/>
                  </a:ext>
                </a:extLst>
              </a:tr>
              <a:tr h="952500">
                <a:tc>
                  <a:txBody>
                    <a:bodyPr/>
                    <a:lstStyle/>
                    <a:p>
                      <a:r>
                        <a:rPr sz="1800" b="0">
                          <a:solidFill>
                            <a:srgbClr val="F5F5EE"/>
                          </a:solidFill>
                          <a:latin typeface="DejaVu Sans"/>
                          <a:ea typeface="DejaVu Sans"/>
                          <a:cs typeface="DejaVu Sans"/>
                        </a:rPr>
                        <a:t>Login example</a:t>
                      </a:r>
                    </a:p>
                  </a:txBody>
                  <a:tcPr>
                    <a:solidFill>
                      <a:srgbClr val="111719"/>
                    </a:solidFill>
                  </a:tcPr>
                </a:tc>
                <a:tc>
                  <a:txBody>
                    <a:bodyPr/>
                    <a:lstStyle/>
                    <a:p>
                      <a:r>
                        <a:rPr sz="1800" b="0">
                          <a:solidFill>
                            <a:srgbClr val="F5F5EE"/>
                          </a:solidFill>
                          <a:latin typeface="DejaVu Sans"/>
                          <a:ea typeface="DejaVu Sans"/>
                          <a:cs typeface="DejaVu Sans"/>
                        </a:rPr>
                        <a:t>Displays the form</a:t>
                      </a:r>
                    </a:p>
                  </a:txBody>
                  <a:tcPr>
                    <a:solidFill>
                      <a:srgbClr val="111719"/>
                    </a:solidFill>
                  </a:tcPr>
                </a:tc>
                <a:tc>
                  <a:txBody>
                    <a:bodyPr/>
                    <a:lstStyle/>
                    <a:p>
                      <a:r>
                        <a:rPr sz="1800" b="0">
                          <a:solidFill>
                            <a:srgbClr val="F5F5EE"/>
                          </a:solidFill>
                          <a:latin typeface="DejaVu Sans"/>
                          <a:ea typeface="DejaVu Sans"/>
                          <a:cs typeface="DejaVu Sans"/>
                        </a:rPr>
                        <a:t>Checks credentials</a:t>
                      </a:r>
                    </a:p>
                  </a:txBody>
                  <a:tcPr>
                    <a:solidFill>
                      <a:srgbClr val="111719"/>
                    </a:solidFill>
                  </a:tcPr>
                </a:tc>
                <a:extLst>
                  <a:ext uri="{0D108BD9-81ED-4DB2-BD59-A6C34878D82A}">
                    <a16:rowId xmlns:a16="http://schemas.microsoft.com/office/drawing/2014/main" val="10002"/>
                  </a:ext>
                </a:extLst>
              </a:tr>
              <a:tr h="952500">
                <a:tc>
                  <a:txBody>
                    <a:bodyPr/>
                    <a:lstStyle/>
                    <a:p>
                      <a:r>
                        <a:rPr sz="1800" b="0">
                          <a:solidFill>
                            <a:srgbClr val="F5F5EE"/>
                          </a:solidFill>
                          <a:latin typeface="DejaVu Sans"/>
                          <a:ea typeface="DejaVu Sans"/>
                          <a:cs typeface="DejaVu Sans"/>
                        </a:rPr>
                        <a:t>After login</a:t>
                      </a:r>
                    </a:p>
                  </a:txBody>
                  <a:tcPr>
                    <a:solidFill>
                      <a:srgbClr val="111719"/>
                    </a:solidFill>
                  </a:tcPr>
                </a:tc>
                <a:tc>
                  <a:txBody>
                    <a:bodyPr/>
                    <a:lstStyle/>
                    <a:p>
                      <a:r>
                        <a:rPr sz="1800" b="0">
                          <a:solidFill>
                            <a:srgbClr val="F5F5EE"/>
                          </a:solidFill>
                          <a:latin typeface="DejaVu Sans"/>
                          <a:ea typeface="DejaVu Sans"/>
                          <a:cs typeface="DejaVu Sans"/>
                        </a:rPr>
                        <a:t>Shows the timetable</a:t>
                      </a:r>
                    </a:p>
                  </a:txBody>
                  <a:tcPr>
                    <a:solidFill>
                      <a:srgbClr val="111719"/>
                    </a:solidFill>
                  </a:tcPr>
                </a:tc>
                <a:tc>
                  <a:txBody>
                    <a:bodyPr/>
                    <a:lstStyle/>
                    <a:p>
                      <a:r>
                        <a:rPr sz="1800" b="0">
                          <a:solidFill>
                            <a:srgbClr val="F5F5EE"/>
                          </a:solidFill>
                          <a:latin typeface="DejaVu Sans"/>
                          <a:ea typeface="DejaVu Sans"/>
                          <a:cs typeface="DejaVu Sans"/>
                        </a:rPr>
                        <a:t>Provides allowed data</a:t>
                      </a:r>
                    </a:p>
                  </a:txBody>
                  <a:tcPr>
                    <a:solidFill>
                      <a:srgbClr val="111719"/>
                    </a:solidFill>
                  </a:tcPr>
                </a:tc>
                <a:extLst>
                  <a:ext uri="{0D108BD9-81ED-4DB2-BD59-A6C34878D82A}">
                    <a16:rowId xmlns:a16="http://schemas.microsoft.com/office/drawing/2014/main" val="10003"/>
                  </a:ext>
                </a:extLst>
              </a:tr>
            </a:tbl>
          </a:graphicData>
        </a:graphic>
      </p:graphicFrame>
      <p:sp>
        <p:nvSpPr>
          <p:cNvPr id="5" name="The browser sends requests. The server sends responses.">
            <a:extLst>
              <a:ext uri="{FF2B5EF4-FFF2-40B4-BE49-F238E27FC236}">
                <a16:creationId xmlns:a16="http://schemas.microsoft.com/office/drawing/2014/main" id="{2ED0F527-4A05-430E-9C26-64248A3085E1}"/>
              </a:ext>
            </a:extLst>
          </p:cNvPr>
          <p:cNvSpPr>
            <a:spLocks noGrp="1"/>
          </p:cNvSpPr>
          <p:nvPr/>
        </p:nvSpPr>
        <p:spPr>
          <a:xfrm>
            <a:off x="628650" y="5695950"/>
            <a:ext cx="10934700" cy="381000"/>
          </a:xfrm>
          <a:prstGeom prst="rect">
            <a:avLst/>
          </a:prstGeom>
          <a:noFill/>
          <a:ln w="0">
            <a:noFill/>
          </a:ln>
        </p:spPr>
        <p:txBody>
          <a:bodyPr wrap="none" lIns="0" tIns="0" rIns="0" bIns="0">
            <a:noAutofit/>
          </a:bodyPr>
          <a:lstStyle/>
          <a:p>
            <a:pPr>
              <a:defRPr sz="1875" b="1">
                <a:solidFill>
                  <a:srgbClr val="D3F879"/>
                </a:solidFill>
                <a:latin typeface="DejaVu Sans"/>
                <a:ea typeface="DejaVu Sans"/>
                <a:cs typeface="DejaVu Sans"/>
              </a:defRPr>
            </a:pPr>
            <a:r>
              <a:rPr sz="1875" b="1">
                <a:solidFill>
                  <a:srgbClr val="D3F879"/>
                </a:solidFill>
                <a:latin typeface="DejaVu Sans"/>
                <a:ea typeface="DejaVu Sans"/>
                <a:cs typeface="DejaVu Sans"/>
              </a:rPr>
              <a:t>The browser sends requests. The server sends responses.</a:t>
            </a:r>
          </a:p>
        </p:txBody>
      </p:sp>
      <p:sp>
        <p:nvSpPr>
          <p:cNvPr id="6" name="Браузер отправляет запросы, сервер возвращает ответы.">
            <a:extLst>
              <a:ext uri="{FF2B5EF4-FFF2-40B4-BE49-F238E27FC236}">
                <a16:creationId xmlns:a16="http://schemas.microsoft.com/office/drawing/2014/main" id="{236C1BD7-2F2F-46BF-940F-45F9C615E977}"/>
              </a:ext>
            </a:extLst>
          </p:cNvPr>
          <p:cNvSpPr>
            <a:spLocks noGrp="1"/>
          </p:cNvSpPr>
          <p:nvPr/>
        </p:nvSpPr>
        <p:spPr>
          <a:xfrm>
            <a:off x="628650" y="6115050"/>
            <a:ext cx="10934700" cy="342900"/>
          </a:xfrm>
          <a:prstGeom prst="rect">
            <a:avLst/>
          </a:prstGeom>
          <a:noFill/>
          <a:ln w="0">
            <a:noFill/>
          </a:ln>
        </p:spPr>
        <p:txBody>
          <a:bodyPr wrap="none" lIns="0" tIns="0" rIns="0" bIns="0">
            <a:noAutofit/>
          </a:bodyPr>
          <a:lstStyle/>
          <a:p>
            <a:pPr>
              <a:defRPr sz="1425" b="0">
                <a:solidFill>
                  <a:srgbClr val="ABB7B8"/>
                </a:solidFill>
                <a:latin typeface="DejaVu Sans"/>
                <a:ea typeface="DejaVu Sans"/>
                <a:cs typeface="DejaVu Sans"/>
              </a:defRPr>
            </a:pPr>
            <a:r>
              <a:rPr sz="1425" b="0">
                <a:solidFill>
                  <a:srgbClr val="ABB7B8"/>
                </a:solidFill>
                <a:latin typeface="DejaVu Sans"/>
                <a:ea typeface="DejaVu Sans"/>
                <a:cs typeface="DejaVu Sans"/>
              </a:rPr>
              <a:t>Браузер отправляет запросы, сервер возвращает ответы.</a:t>
            </a:r>
          </a:p>
        </p:txBody>
      </p:sp>
    </p:spTree>
    <p:extLst>
      <p:ext uri="{BB962C8B-B14F-4D97-AF65-F5344CB8AC3E}">
        <p14:creationId xmlns:p14="http://schemas.microsoft.com/office/powerpoint/2010/main" val="830738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16" name="HTML, CSS and JavaScript">
            <a:extLst>
              <a:ext uri="{FF2B5EF4-FFF2-40B4-BE49-F238E27FC236}">
                <a16:creationId xmlns:a16="http://schemas.microsoft.com/office/drawing/2014/main" id="{FBFBA636-FD3B-45A7-9B4D-2E6E58482E79}"/>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HTML, CSS and JavaScript</a:t>
            </a:r>
          </a:p>
        </p:txBody>
      </p:sp>
      <p:sp>
        <p:nvSpPr>
          <p:cNvPr id="2" name="Три технологии с разными задачами">
            <a:extLst>
              <a:ext uri="{FF2B5EF4-FFF2-40B4-BE49-F238E27FC236}">
                <a16:creationId xmlns:a16="http://schemas.microsoft.com/office/drawing/2014/main" id="{D66F76FA-E02D-4547-AC54-63FA62BDDA3F}"/>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Три технологии с разными задачами</a:t>
            </a:r>
          </a:p>
        </p:txBody>
      </p:sp>
      <p:sp>
        <p:nvSpPr>
          <p:cNvPr id="3" name="04">
            <a:extLst>
              <a:ext uri="{FF2B5EF4-FFF2-40B4-BE49-F238E27FC236}">
                <a16:creationId xmlns:a16="http://schemas.microsoft.com/office/drawing/2014/main" id="{CF03C523-A601-491F-B9A7-C07D341AA4E9}"/>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04</a:t>
            </a:r>
          </a:p>
        </p:txBody>
      </p:sp>
      <p:sp>
        <p:nvSpPr>
          <p:cNvPr id="4" name="HTML">
            <a:extLst>
              <a:ext uri="{FF2B5EF4-FFF2-40B4-BE49-F238E27FC236}">
                <a16:creationId xmlns:a16="http://schemas.microsoft.com/office/drawing/2014/main" id="{20525C62-5C3E-49D8-B501-AB183418FAC6}"/>
              </a:ext>
            </a:extLst>
          </p:cNvPr>
          <p:cNvSpPr>
            <a:spLocks noGrp="1"/>
          </p:cNvSpPr>
          <p:nvPr/>
        </p:nvSpPr>
        <p:spPr>
          <a:xfrm>
            <a:off x="628650" y="2200275"/>
            <a:ext cx="3190875" cy="1000125"/>
          </a:xfrm>
          <a:prstGeom prst="rect">
            <a:avLst/>
          </a:prstGeom>
          <a:noFill/>
          <a:ln w="0">
            <a:noFill/>
          </a:ln>
        </p:spPr>
        <p:txBody>
          <a:bodyPr wrap="none" lIns="0" tIns="0" rIns="0" bIns="0">
            <a:noAutofit/>
          </a:bodyPr>
          <a:lstStyle/>
          <a:p>
            <a:pPr>
              <a:defRPr sz="5700" b="1">
                <a:solidFill>
                  <a:srgbClr val="D3F879"/>
                </a:solidFill>
                <a:latin typeface="DejaVu Sans"/>
                <a:ea typeface="DejaVu Sans"/>
                <a:cs typeface="DejaVu Sans"/>
              </a:defRPr>
            </a:pPr>
            <a:r>
              <a:rPr sz="5700" b="1">
                <a:solidFill>
                  <a:srgbClr val="D3F879"/>
                </a:solidFill>
                <a:latin typeface="DejaVu Sans"/>
                <a:ea typeface="DejaVu Sans"/>
                <a:cs typeface="DejaVu Sans"/>
              </a:rPr>
              <a:t>HTML</a:t>
            </a:r>
          </a:p>
        </p:txBody>
      </p:sp>
      <p:sp>
        <p:nvSpPr>
          <p:cNvPr id="5" name="Structure">
            <a:extLst>
              <a:ext uri="{FF2B5EF4-FFF2-40B4-BE49-F238E27FC236}">
                <a16:creationId xmlns:a16="http://schemas.microsoft.com/office/drawing/2014/main" id="{C07642F7-3614-4AB4-AA14-0E7FC276D333}"/>
              </a:ext>
            </a:extLst>
          </p:cNvPr>
          <p:cNvSpPr>
            <a:spLocks noGrp="1"/>
          </p:cNvSpPr>
          <p:nvPr/>
        </p:nvSpPr>
        <p:spPr>
          <a:xfrm>
            <a:off x="628650" y="3495675"/>
            <a:ext cx="3257550" cy="895350"/>
          </a:xfrm>
          <a:prstGeom prst="rect">
            <a:avLst/>
          </a:prstGeom>
          <a:noFill/>
          <a:ln w="0">
            <a:noFill/>
          </a:ln>
        </p:spPr>
        <p:txBody>
          <a:bodyPr wrap="none" lIns="0" tIns="0" rIns="0" bIns="0">
            <a:noAutofit/>
          </a:bodyPr>
          <a:lstStyle/>
          <a:p>
            <a:pPr>
              <a:defRPr sz="2325" b="1">
                <a:solidFill>
                  <a:srgbClr val="F5F5EE"/>
                </a:solidFill>
                <a:latin typeface="DejaVu Sans"/>
                <a:ea typeface="DejaVu Sans"/>
                <a:cs typeface="DejaVu Sans"/>
              </a:defRPr>
            </a:pPr>
            <a:r>
              <a:rPr sz="2325" b="1">
                <a:solidFill>
                  <a:srgbClr val="F5F5EE"/>
                </a:solidFill>
                <a:latin typeface="DejaVu Sans"/>
                <a:ea typeface="DejaVu Sans"/>
                <a:cs typeface="DejaVu Sans"/>
              </a:rPr>
              <a:t>Structure</a:t>
            </a:r>
          </a:p>
        </p:txBody>
      </p:sp>
      <p:sp>
        <p:nvSpPr>
          <p:cNvPr id="6" name="Структура и смысл">
            <a:extLst>
              <a:ext uri="{FF2B5EF4-FFF2-40B4-BE49-F238E27FC236}">
                <a16:creationId xmlns:a16="http://schemas.microsoft.com/office/drawing/2014/main" id="{2E15A49D-C3C6-48A2-8EEF-EB8D0D4D70D2}"/>
              </a:ext>
            </a:extLst>
          </p:cNvPr>
          <p:cNvSpPr>
            <a:spLocks noGrp="1"/>
          </p:cNvSpPr>
          <p:nvPr/>
        </p:nvSpPr>
        <p:spPr>
          <a:xfrm>
            <a:off x="628650" y="4524375"/>
            <a:ext cx="3286125" cy="647700"/>
          </a:xfrm>
          <a:prstGeom prst="rect">
            <a:avLst/>
          </a:prstGeom>
          <a:noFill/>
          <a:ln w="0">
            <a:noFill/>
          </a:ln>
        </p:spPr>
        <p:txBody>
          <a:bodyPr wrap="none" lIns="0" tIns="0" rIns="0" bIns="0">
            <a:noAutofit/>
          </a:bodyPr>
          <a:lstStyle/>
          <a:p>
            <a:pPr>
              <a:defRPr sz="1575" b="0">
                <a:solidFill>
                  <a:srgbClr val="ABB7B8"/>
                </a:solidFill>
                <a:latin typeface="DejaVu Sans"/>
                <a:ea typeface="DejaVu Sans"/>
                <a:cs typeface="DejaVu Sans"/>
              </a:defRPr>
            </a:pPr>
            <a:r>
              <a:rPr sz="1575" b="0">
                <a:solidFill>
                  <a:srgbClr val="ABB7B8"/>
                </a:solidFill>
                <a:latin typeface="DejaVu Sans"/>
                <a:ea typeface="DejaVu Sans"/>
                <a:cs typeface="DejaVu Sans"/>
              </a:rPr>
              <a:t>Структура и смысл</a:t>
            </a:r>
          </a:p>
        </p:txBody>
      </p:sp>
      <p:sp>
        <p:nvSpPr>
          <p:cNvPr id="7" name="A heading and a link">
            <a:extLst>
              <a:ext uri="{FF2B5EF4-FFF2-40B4-BE49-F238E27FC236}">
                <a16:creationId xmlns:a16="http://schemas.microsoft.com/office/drawing/2014/main" id="{761784E2-BC41-416F-ABF2-E9ABC904BFDA}"/>
              </a:ext>
            </a:extLst>
          </p:cNvPr>
          <p:cNvSpPr>
            <a:spLocks noGrp="1"/>
          </p:cNvSpPr>
          <p:nvPr/>
        </p:nvSpPr>
        <p:spPr>
          <a:xfrm>
            <a:off x="628650" y="5448300"/>
            <a:ext cx="3333750" cy="571500"/>
          </a:xfrm>
          <a:prstGeom prst="rect">
            <a:avLst/>
          </a:prstGeom>
          <a:noFill/>
          <a:ln w="0">
            <a:noFill/>
          </a:ln>
        </p:spPr>
        <p:txBody>
          <a:bodyPr wrap="none" lIns="0" tIns="0" rIns="0" bIns="0">
            <a:noAutofit/>
          </a:bodyPr>
          <a:lstStyle/>
          <a:p>
            <a:pPr>
              <a:defRPr sz="1650" b="0">
                <a:solidFill>
                  <a:srgbClr val="D3F879"/>
                </a:solidFill>
                <a:latin typeface="DejaVu Sans"/>
                <a:ea typeface="DejaVu Sans"/>
                <a:cs typeface="DejaVu Sans"/>
              </a:defRPr>
            </a:pPr>
            <a:r>
              <a:rPr sz="1650" b="0">
                <a:solidFill>
                  <a:srgbClr val="D3F879"/>
                </a:solidFill>
                <a:latin typeface="DejaVu Sans"/>
                <a:ea typeface="DejaVu Sans"/>
                <a:cs typeface="DejaVu Sans"/>
              </a:rPr>
              <a:t>A heading and a link</a:t>
            </a:r>
          </a:p>
        </p:txBody>
      </p:sp>
      <p:sp>
        <p:nvSpPr>
          <p:cNvPr id="8" name="CSS">
            <a:extLst>
              <a:ext uri="{FF2B5EF4-FFF2-40B4-BE49-F238E27FC236}">
                <a16:creationId xmlns:a16="http://schemas.microsoft.com/office/drawing/2014/main" id="{0AA922C1-FB27-474A-89BC-F83608E91242}"/>
              </a:ext>
            </a:extLst>
          </p:cNvPr>
          <p:cNvSpPr>
            <a:spLocks noGrp="1"/>
          </p:cNvSpPr>
          <p:nvPr/>
        </p:nvSpPr>
        <p:spPr>
          <a:xfrm>
            <a:off x="4448175" y="2200275"/>
            <a:ext cx="3190875" cy="1000125"/>
          </a:xfrm>
          <a:prstGeom prst="rect">
            <a:avLst/>
          </a:prstGeom>
          <a:noFill/>
          <a:ln w="0">
            <a:noFill/>
          </a:ln>
        </p:spPr>
        <p:txBody>
          <a:bodyPr wrap="none" lIns="0" tIns="0" rIns="0" bIns="0">
            <a:noAutofit/>
          </a:bodyPr>
          <a:lstStyle/>
          <a:p>
            <a:pPr>
              <a:defRPr sz="5700" b="1">
                <a:solidFill>
                  <a:srgbClr val="86DBD3"/>
                </a:solidFill>
                <a:latin typeface="DejaVu Sans"/>
                <a:ea typeface="DejaVu Sans"/>
                <a:cs typeface="DejaVu Sans"/>
              </a:defRPr>
            </a:pPr>
            <a:r>
              <a:rPr sz="5700" b="1">
                <a:solidFill>
                  <a:srgbClr val="86DBD3"/>
                </a:solidFill>
                <a:latin typeface="DejaVu Sans"/>
                <a:ea typeface="DejaVu Sans"/>
                <a:cs typeface="DejaVu Sans"/>
              </a:rPr>
              <a:t>CSS</a:t>
            </a:r>
          </a:p>
        </p:txBody>
      </p:sp>
      <p:sp>
        <p:nvSpPr>
          <p:cNvPr id="9" name="Appearance">
            <a:extLst>
              <a:ext uri="{FF2B5EF4-FFF2-40B4-BE49-F238E27FC236}">
                <a16:creationId xmlns:a16="http://schemas.microsoft.com/office/drawing/2014/main" id="{BCFB4237-E0D3-4F21-9165-5134BFC667FE}"/>
              </a:ext>
            </a:extLst>
          </p:cNvPr>
          <p:cNvSpPr>
            <a:spLocks noGrp="1"/>
          </p:cNvSpPr>
          <p:nvPr/>
        </p:nvSpPr>
        <p:spPr>
          <a:xfrm>
            <a:off x="4448175" y="3495675"/>
            <a:ext cx="3257550" cy="895350"/>
          </a:xfrm>
          <a:prstGeom prst="rect">
            <a:avLst/>
          </a:prstGeom>
          <a:noFill/>
          <a:ln w="0">
            <a:noFill/>
          </a:ln>
        </p:spPr>
        <p:txBody>
          <a:bodyPr wrap="none" lIns="0" tIns="0" rIns="0" bIns="0">
            <a:noAutofit/>
          </a:bodyPr>
          <a:lstStyle/>
          <a:p>
            <a:pPr>
              <a:defRPr sz="2325" b="1">
                <a:solidFill>
                  <a:srgbClr val="F5F5EE"/>
                </a:solidFill>
                <a:latin typeface="DejaVu Sans"/>
                <a:ea typeface="DejaVu Sans"/>
                <a:cs typeface="DejaVu Sans"/>
              </a:defRPr>
            </a:pPr>
            <a:r>
              <a:rPr sz="2325" b="1">
                <a:solidFill>
                  <a:srgbClr val="F5F5EE"/>
                </a:solidFill>
                <a:latin typeface="DejaVu Sans"/>
                <a:ea typeface="DejaVu Sans"/>
                <a:cs typeface="DejaVu Sans"/>
              </a:rPr>
              <a:t>Appearance</a:t>
            </a:r>
          </a:p>
        </p:txBody>
      </p:sp>
      <p:sp>
        <p:nvSpPr>
          <p:cNvPr id="10" name="Внешний вид">
            <a:extLst>
              <a:ext uri="{FF2B5EF4-FFF2-40B4-BE49-F238E27FC236}">
                <a16:creationId xmlns:a16="http://schemas.microsoft.com/office/drawing/2014/main" id="{3034A7AA-EBD3-47B5-A2DA-D92D9B50CD6D}"/>
              </a:ext>
            </a:extLst>
          </p:cNvPr>
          <p:cNvSpPr>
            <a:spLocks noGrp="1"/>
          </p:cNvSpPr>
          <p:nvPr/>
        </p:nvSpPr>
        <p:spPr>
          <a:xfrm>
            <a:off x="4448175" y="4524375"/>
            <a:ext cx="3286125" cy="647700"/>
          </a:xfrm>
          <a:prstGeom prst="rect">
            <a:avLst/>
          </a:prstGeom>
          <a:noFill/>
          <a:ln w="0">
            <a:noFill/>
          </a:ln>
        </p:spPr>
        <p:txBody>
          <a:bodyPr wrap="none" lIns="0" tIns="0" rIns="0" bIns="0">
            <a:noAutofit/>
          </a:bodyPr>
          <a:lstStyle/>
          <a:p>
            <a:pPr>
              <a:defRPr sz="1575" b="0">
                <a:solidFill>
                  <a:srgbClr val="ABB7B8"/>
                </a:solidFill>
                <a:latin typeface="DejaVu Sans"/>
                <a:ea typeface="DejaVu Sans"/>
                <a:cs typeface="DejaVu Sans"/>
              </a:defRPr>
            </a:pPr>
            <a:r>
              <a:rPr sz="1575" b="0">
                <a:solidFill>
                  <a:srgbClr val="ABB7B8"/>
                </a:solidFill>
                <a:latin typeface="DejaVu Sans"/>
                <a:ea typeface="DejaVu Sans"/>
                <a:cs typeface="DejaVu Sans"/>
              </a:rPr>
              <a:t>Внешний вид</a:t>
            </a:r>
          </a:p>
        </p:txBody>
      </p:sp>
      <p:sp>
        <p:nvSpPr>
          <p:cNvPr id="11" name="Colors and spacing">
            <a:extLst>
              <a:ext uri="{FF2B5EF4-FFF2-40B4-BE49-F238E27FC236}">
                <a16:creationId xmlns:a16="http://schemas.microsoft.com/office/drawing/2014/main" id="{6C873EF9-C384-4EBE-B70B-3EB57A46078D}"/>
              </a:ext>
            </a:extLst>
          </p:cNvPr>
          <p:cNvSpPr>
            <a:spLocks noGrp="1"/>
          </p:cNvSpPr>
          <p:nvPr/>
        </p:nvSpPr>
        <p:spPr>
          <a:xfrm>
            <a:off x="4448175" y="5448300"/>
            <a:ext cx="3333750" cy="571500"/>
          </a:xfrm>
          <a:prstGeom prst="rect">
            <a:avLst/>
          </a:prstGeom>
          <a:noFill/>
          <a:ln w="0">
            <a:noFill/>
          </a:ln>
        </p:spPr>
        <p:txBody>
          <a:bodyPr wrap="none" lIns="0" tIns="0" rIns="0" bIns="0">
            <a:noAutofit/>
          </a:bodyPr>
          <a:lstStyle/>
          <a:p>
            <a:pPr>
              <a:defRPr sz="1650" b="0">
                <a:solidFill>
                  <a:srgbClr val="86DBD3"/>
                </a:solidFill>
                <a:latin typeface="DejaVu Sans"/>
                <a:ea typeface="DejaVu Sans"/>
                <a:cs typeface="DejaVu Sans"/>
              </a:defRPr>
            </a:pPr>
            <a:r>
              <a:rPr sz="1650" b="0">
                <a:solidFill>
                  <a:srgbClr val="86DBD3"/>
                </a:solidFill>
                <a:latin typeface="DejaVu Sans"/>
                <a:ea typeface="DejaVu Sans"/>
                <a:cs typeface="DejaVu Sans"/>
              </a:rPr>
              <a:t>Colors and spacing</a:t>
            </a:r>
          </a:p>
        </p:txBody>
      </p:sp>
      <p:sp>
        <p:nvSpPr>
          <p:cNvPr id="12" name="JS">
            <a:extLst>
              <a:ext uri="{FF2B5EF4-FFF2-40B4-BE49-F238E27FC236}">
                <a16:creationId xmlns:a16="http://schemas.microsoft.com/office/drawing/2014/main" id="{B5B666FF-4816-469B-AAEA-A42D9AA7C49A}"/>
              </a:ext>
            </a:extLst>
          </p:cNvPr>
          <p:cNvSpPr>
            <a:spLocks noGrp="1"/>
          </p:cNvSpPr>
          <p:nvPr/>
        </p:nvSpPr>
        <p:spPr>
          <a:xfrm>
            <a:off x="8239125" y="2200275"/>
            <a:ext cx="3190875" cy="1000125"/>
          </a:xfrm>
          <a:prstGeom prst="rect">
            <a:avLst/>
          </a:prstGeom>
          <a:noFill/>
          <a:ln w="0">
            <a:noFill/>
          </a:ln>
        </p:spPr>
        <p:txBody>
          <a:bodyPr wrap="none" lIns="0" tIns="0" rIns="0" bIns="0">
            <a:noAutofit/>
          </a:bodyPr>
          <a:lstStyle/>
          <a:p>
            <a:pPr>
              <a:defRPr sz="5700" b="1">
                <a:solidFill>
                  <a:srgbClr val="F0C5A6"/>
                </a:solidFill>
                <a:latin typeface="DejaVu Sans"/>
                <a:ea typeface="DejaVu Sans"/>
                <a:cs typeface="DejaVu Sans"/>
              </a:defRPr>
            </a:pPr>
            <a:r>
              <a:rPr sz="5700" b="1">
                <a:solidFill>
                  <a:srgbClr val="F0C5A6"/>
                </a:solidFill>
                <a:latin typeface="DejaVu Sans"/>
                <a:ea typeface="DejaVu Sans"/>
                <a:cs typeface="DejaVu Sans"/>
              </a:rPr>
              <a:t>JS</a:t>
            </a:r>
          </a:p>
        </p:txBody>
      </p:sp>
      <p:sp>
        <p:nvSpPr>
          <p:cNvPr id="13" name="Programmed&#10;behavior">
            <a:extLst>
              <a:ext uri="{FF2B5EF4-FFF2-40B4-BE49-F238E27FC236}">
                <a16:creationId xmlns:a16="http://schemas.microsoft.com/office/drawing/2014/main" id="{397922F3-E466-435C-952B-B02E4815F003}"/>
              </a:ext>
            </a:extLst>
          </p:cNvPr>
          <p:cNvSpPr>
            <a:spLocks noGrp="1"/>
          </p:cNvSpPr>
          <p:nvPr/>
        </p:nvSpPr>
        <p:spPr>
          <a:xfrm>
            <a:off x="8239125" y="3495675"/>
            <a:ext cx="3257550" cy="895350"/>
          </a:xfrm>
          <a:prstGeom prst="rect">
            <a:avLst/>
          </a:prstGeom>
          <a:noFill/>
          <a:ln w="0">
            <a:noFill/>
          </a:ln>
        </p:spPr>
        <p:txBody>
          <a:bodyPr wrap="none" lIns="0" tIns="0" rIns="0" bIns="0">
            <a:noAutofit/>
          </a:bodyPr>
          <a:lstStyle/>
          <a:p>
            <a:pPr>
              <a:defRPr sz="2325" b="1">
                <a:solidFill>
                  <a:srgbClr val="F5F5EE"/>
                </a:solidFill>
                <a:latin typeface="DejaVu Sans"/>
                <a:ea typeface="DejaVu Sans"/>
                <a:cs typeface="DejaVu Sans"/>
              </a:defRPr>
            </a:pPr>
            <a:r>
              <a:rPr sz="2325" b="1">
                <a:solidFill>
                  <a:srgbClr val="F5F5EE"/>
                </a:solidFill>
                <a:latin typeface="DejaVu Sans"/>
                <a:ea typeface="DejaVu Sans"/>
                <a:cs typeface="DejaVu Sans"/>
              </a:rPr>
              <a:t>Programmed</a:t>
            </a:r>
          </a:p>
          <a:p>
            <a:pPr>
              <a:defRPr sz="2325" b="1">
                <a:solidFill>
                  <a:srgbClr val="F5F5EE"/>
                </a:solidFill>
                <a:latin typeface="DejaVu Sans"/>
                <a:ea typeface="DejaVu Sans"/>
                <a:cs typeface="DejaVu Sans"/>
              </a:defRPr>
            </a:pPr>
            <a:r>
              <a:rPr sz="2325" b="1">
                <a:solidFill>
                  <a:srgbClr val="F5F5EE"/>
                </a:solidFill>
                <a:latin typeface="DejaVu Sans"/>
                <a:ea typeface="DejaVu Sans"/>
                <a:cs typeface="DejaVu Sans"/>
              </a:rPr>
              <a:t>behavior</a:t>
            </a:r>
          </a:p>
        </p:txBody>
      </p:sp>
      <p:sp>
        <p:nvSpPr>
          <p:cNvPr id="14" name="Программное&#10;поведение">
            <a:extLst>
              <a:ext uri="{FF2B5EF4-FFF2-40B4-BE49-F238E27FC236}">
                <a16:creationId xmlns:a16="http://schemas.microsoft.com/office/drawing/2014/main" id="{AE9FBA0A-EBEA-471E-9FC9-8D2EE000639C}"/>
              </a:ext>
            </a:extLst>
          </p:cNvPr>
          <p:cNvSpPr>
            <a:spLocks noGrp="1"/>
          </p:cNvSpPr>
          <p:nvPr/>
        </p:nvSpPr>
        <p:spPr>
          <a:xfrm>
            <a:off x="8239125" y="4524375"/>
            <a:ext cx="3286125" cy="647700"/>
          </a:xfrm>
          <a:prstGeom prst="rect">
            <a:avLst/>
          </a:prstGeom>
          <a:noFill/>
          <a:ln w="0">
            <a:noFill/>
          </a:ln>
        </p:spPr>
        <p:txBody>
          <a:bodyPr wrap="none" lIns="0" tIns="0" rIns="0" bIns="0">
            <a:noAutofit/>
          </a:bodyPr>
          <a:lstStyle/>
          <a:p>
            <a:pPr>
              <a:defRPr sz="1575" b="0">
                <a:solidFill>
                  <a:srgbClr val="ABB7B8"/>
                </a:solidFill>
                <a:latin typeface="DejaVu Sans"/>
                <a:ea typeface="DejaVu Sans"/>
                <a:cs typeface="DejaVu Sans"/>
              </a:defRPr>
            </a:pPr>
            <a:r>
              <a:rPr sz="1575" b="0">
                <a:solidFill>
                  <a:srgbClr val="ABB7B8"/>
                </a:solidFill>
                <a:latin typeface="DejaVu Sans"/>
                <a:ea typeface="DejaVu Sans"/>
                <a:cs typeface="DejaVu Sans"/>
              </a:rPr>
              <a:t>Программное</a:t>
            </a:r>
          </a:p>
          <a:p>
            <a:pPr>
              <a:defRPr sz="1575" b="0">
                <a:solidFill>
                  <a:srgbClr val="ABB7B8"/>
                </a:solidFill>
                <a:latin typeface="DejaVu Sans"/>
                <a:ea typeface="DejaVu Sans"/>
                <a:cs typeface="DejaVu Sans"/>
              </a:defRPr>
            </a:pPr>
            <a:r>
              <a:rPr sz="1575" b="0">
                <a:solidFill>
                  <a:srgbClr val="ABB7B8"/>
                </a:solidFill>
                <a:latin typeface="DejaVu Sans"/>
                <a:ea typeface="DejaVu Sans"/>
                <a:cs typeface="DejaVu Sans"/>
              </a:rPr>
              <a:t>поведение</a:t>
            </a:r>
          </a:p>
        </p:txBody>
      </p:sp>
      <p:sp>
        <p:nvSpPr>
          <p:cNvPr id="15" name="Load new timetable data">
            <a:extLst>
              <a:ext uri="{FF2B5EF4-FFF2-40B4-BE49-F238E27FC236}">
                <a16:creationId xmlns:a16="http://schemas.microsoft.com/office/drawing/2014/main" id="{9DBA2BC9-9736-405F-945F-26A387091150}"/>
              </a:ext>
            </a:extLst>
          </p:cNvPr>
          <p:cNvSpPr>
            <a:spLocks noGrp="1"/>
          </p:cNvSpPr>
          <p:nvPr/>
        </p:nvSpPr>
        <p:spPr>
          <a:xfrm>
            <a:off x="8239125" y="5448300"/>
            <a:ext cx="3333750" cy="571500"/>
          </a:xfrm>
          <a:prstGeom prst="rect">
            <a:avLst/>
          </a:prstGeom>
          <a:noFill/>
          <a:ln w="0">
            <a:noFill/>
          </a:ln>
        </p:spPr>
        <p:txBody>
          <a:bodyPr wrap="none" lIns="0" tIns="0" rIns="0" bIns="0">
            <a:noAutofit/>
          </a:bodyPr>
          <a:lstStyle/>
          <a:p>
            <a:pPr>
              <a:defRPr sz="1650" b="0">
                <a:solidFill>
                  <a:srgbClr val="F0C5A6"/>
                </a:solidFill>
                <a:latin typeface="DejaVu Sans"/>
                <a:ea typeface="DejaVu Sans"/>
                <a:cs typeface="DejaVu Sans"/>
              </a:defRPr>
            </a:pPr>
            <a:r>
              <a:rPr sz="1650" b="0">
                <a:solidFill>
                  <a:srgbClr val="F0C5A6"/>
                </a:solidFill>
                <a:latin typeface="DejaVu Sans"/>
                <a:ea typeface="DejaVu Sans"/>
                <a:cs typeface="DejaVu Sans"/>
              </a:rPr>
              <a:t>Load new timetable data</a:t>
            </a:r>
          </a:p>
        </p:txBody>
      </p:sp>
    </p:spTree>
    <p:extLst>
      <p:ext uri="{BB962C8B-B14F-4D97-AF65-F5344CB8AC3E}">
        <p14:creationId xmlns:p14="http://schemas.microsoft.com/office/powerpoint/2010/main" val="247934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3E9"/>
        </a:solidFill>
        <a:effectLst/>
      </p:bgPr>
    </p:bg>
    <p:spTree>
      <p:nvGrpSpPr>
        <p:cNvPr id="1" name=""/>
        <p:cNvGrpSpPr/>
        <p:nvPr/>
      </p:nvGrpSpPr>
      <p:grpSpPr>
        <a:xfrm>
          <a:off x="0" y="0"/>
          <a:ext cx="0" cy="0"/>
          <a:chOff x="0" y="0"/>
          <a:chExt cx="0" cy="0"/>
        </a:xfrm>
      </p:grpSpPr>
      <p:sp>
        <p:nvSpPr>
          <p:cNvPr id="11" name="The tools for this lesson">
            <a:extLst>
              <a:ext uri="{FF2B5EF4-FFF2-40B4-BE49-F238E27FC236}">
                <a16:creationId xmlns:a16="http://schemas.microsoft.com/office/drawing/2014/main" id="{75BC2E0D-74DD-46CB-83F9-85D94B49C259}"/>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182121"/>
                </a:solidFill>
                <a:latin typeface="DejaVu Sans"/>
                <a:ea typeface="DejaVu Sans"/>
                <a:cs typeface="DejaVu Sans"/>
              </a:defRPr>
            </a:pPr>
            <a:r>
              <a:rPr sz="3750" b="1">
                <a:solidFill>
                  <a:srgbClr val="182121"/>
                </a:solidFill>
                <a:latin typeface="DejaVu Sans"/>
                <a:ea typeface="DejaVu Sans"/>
                <a:cs typeface="DejaVu Sans"/>
              </a:rPr>
              <a:t>The tools for this lesson</a:t>
            </a:r>
          </a:p>
        </p:txBody>
      </p:sp>
      <p:sp>
        <p:nvSpPr>
          <p:cNvPr id="2" name="Для начала достаточно редактора и браузера">
            <a:extLst>
              <a:ext uri="{FF2B5EF4-FFF2-40B4-BE49-F238E27FC236}">
                <a16:creationId xmlns:a16="http://schemas.microsoft.com/office/drawing/2014/main" id="{AE731607-76A7-4B44-8691-4C7AB29FD7C1}"/>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52605E"/>
                </a:solidFill>
                <a:latin typeface="DejaVu Sans"/>
                <a:ea typeface="DejaVu Sans"/>
                <a:cs typeface="DejaVu Sans"/>
              </a:defRPr>
            </a:pPr>
            <a:r>
              <a:rPr sz="1500" b="0">
                <a:solidFill>
                  <a:srgbClr val="52605E"/>
                </a:solidFill>
                <a:latin typeface="DejaVu Sans"/>
                <a:ea typeface="DejaVu Sans"/>
                <a:cs typeface="DejaVu Sans"/>
              </a:rPr>
              <a:t>Для начала достаточно редактора и браузера</a:t>
            </a:r>
          </a:p>
        </p:txBody>
      </p:sp>
      <p:sp>
        <p:nvSpPr>
          <p:cNvPr id="3" name="05">
            <a:extLst>
              <a:ext uri="{FF2B5EF4-FFF2-40B4-BE49-F238E27FC236}">
                <a16:creationId xmlns:a16="http://schemas.microsoft.com/office/drawing/2014/main" id="{39B9A6E2-BAF5-4251-B0B7-707E1AF29B51}"/>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52605E"/>
                </a:solidFill>
                <a:latin typeface="DejaVu Sans"/>
                <a:ea typeface="DejaVu Sans"/>
                <a:cs typeface="DejaVu Sans"/>
              </a:defRPr>
            </a:pPr>
            <a:r>
              <a:rPr sz="1275" b="0">
                <a:solidFill>
                  <a:srgbClr val="52605E"/>
                </a:solidFill>
                <a:latin typeface="DejaVu Sans"/>
                <a:ea typeface="DejaVu Sans"/>
                <a:cs typeface="DejaVu Sans"/>
              </a:rPr>
              <a:t>05</a:t>
            </a:r>
          </a:p>
        </p:txBody>
      </p:sp>
      <p:sp>
        <p:nvSpPr>
          <p:cNvPr id="4" name="VS Code">
            <a:extLst>
              <a:ext uri="{FF2B5EF4-FFF2-40B4-BE49-F238E27FC236}">
                <a16:creationId xmlns:a16="http://schemas.microsoft.com/office/drawing/2014/main" id="{190A999D-F284-4636-95BA-73563BF1A7C9}"/>
              </a:ext>
            </a:extLst>
          </p:cNvPr>
          <p:cNvSpPr>
            <a:spLocks noGrp="1"/>
          </p:cNvSpPr>
          <p:nvPr/>
        </p:nvSpPr>
        <p:spPr>
          <a:xfrm>
            <a:off x="638175" y="2238375"/>
            <a:ext cx="5048250" cy="578168"/>
          </a:xfrm>
          <a:prstGeom prst="rect">
            <a:avLst/>
          </a:prstGeom>
          <a:noFill/>
          <a:ln w="0">
            <a:noFill/>
          </a:ln>
        </p:spPr>
        <p:txBody>
          <a:bodyPr wrap="none" lIns="0" tIns="0" rIns="0" bIns="0">
            <a:noAutofit/>
          </a:bodyPr>
          <a:lstStyle/>
          <a:p>
            <a:pPr>
              <a:defRPr sz="3150" b="1">
                <a:solidFill>
                  <a:srgbClr val="182121"/>
                </a:solidFill>
                <a:latin typeface="DejaVu Sans"/>
                <a:ea typeface="DejaVu Sans"/>
                <a:cs typeface="DejaVu Sans"/>
              </a:defRPr>
            </a:pPr>
            <a:r>
              <a:rPr sz="3150" b="1">
                <a:solidFill>
                  <a:srgbClr val="182121"/>
                </a:solidFill>
                <a:latin typeface="DejaVu Sans"/>
                <a:ea typeface="DejaVu Sans"/>
                <a:cs typeface="DejaVu Sans"/>
              </a:rPr>
              <a:t>VS Code</a:t>
            </a:r>
          </a:p>
        </p:txBody>
      </p:sp>
      <p:sp>
        <p:nvSpPr>
          <p:cNvPr id="5" name="Здесь вы пишете и сохраняете код">
            <a:extLst>
              <a:ext uri="{FF2B5EF4-FFF2-40B4-BE49-F238E27FC236}">
                <a16:creationId xmlns:a16="http://schemas.microsoft.com/office/drawing/2014/main" id="{72518929-AFAD-415F-82F1-A760C4E7A720}"/>
              </a:ext>
            </a:extLst>
          </p:cNvPr>
          <p:cNvSpPr>
            <a:spLocks noGrp="1"/>
          </p:cNvSpPr>
          <p:nvPr/>
        </p:nvSpPr>
        <p:spPr>
          <a:xfrm>
            <a:off x="638175" y="2902268"/>
            <a:ext cx="5048250" cy="723900"/>
          </a:xfrm>
          <a:prstGeom prst="rect">
            <a:avLst/>
          </a:prstGeom>
          <a:noFill/>
          <a:ln w="0">
            <a:noFill/>
          </a:ln>
        </p:spPr>
        <p:txBody>
          <a:bodyPr wrap="none" lIns="0" tIns="0" rIns="0" bIns="0">
            <a:noAutofit/>
          </a:bodyPr>
          <a:lstStyle/>
          <a:p>
            <a:pPr>
              <a:defRPr sz="1500" b="0">
                <a:solidFill>
                  <a:srgbClr val="52605E"/>
                </a:solidFill>
                <a:latin typeface="DejaVu Sans"/>
                <a:ea typeface="DejaVu Sans"/>
                <a:cs typeface="DejaVu Sans"/>
              </a:defRPr>
            </a:pPr>
            <a:r>
              <a:rPr sz="1500" b="0">
                <a:solidFill>
                  <a:srgbClr val="52605E"/>
                </a:solidFill>
                <a:latin typeface="DejaVu Sans"/>
                <a:ea typeface="DejaVu Sans"/>
                <a:cs typeface="DejaVu Sans"/>
              </a:rPr>
              <a:t>Здесь вы пишете и сохраняете код</a:t>
            </a:r>
          </a:p>
        </p:txBody>
      </p:sp>
      <p:sp>
        <p:nvSpPr>
          <p:cNvPr id="6" name="A web browser">
            <a:extLst>
              <a:ext uri="{FF2B5EF4-FFF2-40B4-BE49-F238E27FC236}">
                <a16:creationId xmlns:a16="http://schemas.microsoft.com/office/drawing/2014/main" id="{C71AAACD-F288-4E58-8F87-318FCA216D0E}"/>
              </a:ext>
            </a:extLst>
          </p:cNvPr>
          <p:cNvSpPr>
            <a:spLocks noGrp="1"/>
          </p:cNvSpPr>
          <p:nvPr/>
        </p:nvSpPr>
        <p:spPr>
          <a:xfrm>
            <a:off x="6477000" y="2238375"/>
            <a:ext cx="5095875" cy="578168"/>
          </a:xfrm>
          <a:prstGeom prst="rect">
            <a:avLst/>
          </a:prstGeom>
          <a:noFill/>
          <a:ln w="0">
            <a:noFill/>
          </a:ln>
        </p:spPr>
        <p:txBody>
          <a:bodyPr wrap="none" lIns="0" tIns="0" rIns="0" bIns="0">
            <a:noAutofit/>
          </a:bodyPr>
          <a:lstStyle/>
          <a:p>
            <a:pPr>
              <a:defRPr sz="3150" b="1">
                <a:solidFill>
                  <a:srgbClr val="182121"/>
                </a:solidFill>
                <a:latin typeface="DejaVu Sans"/>
                <a:ea typeface="DejaVu Sans"/>
                <a:cs typeface="DejaVu Sans"/>
              </a:defRPr>
            </a:pPr>
            <a:r>
              <a:rPr sz="3150" b="1">
                <a:solidFill>
                  <a:srgbClr val="182121"/>
                </a:solidFill>
                <a:latin typeface="DejaVu Sans"/>
                <a:ea typeface="DejaVu Sans"/>
                <a:cs typeface="DejaVu Sans"/>
              </a:rPr>
              <a:t>A web browser</a:t>
            </a:r>
          </a:p>
        </p:txBody>
      </p:sp>
      <p:sp>
        <p:nvSpPr>
          <p:cNvPr id="7" name="Здесь вы открываете и проверяете страницу">
            <a:extLst>
              <a:ext uri="{FF2B5EF4-FFF2-40B4-BE49-F238E27FC236}">
                <a16:creationId xmlns:a16="http://schemas.microsoft.com/office/drawing/2014/main" id="{0151CCE5-D039-45D5-9A49-0D73C04E53A3}"/>
              </a:ext>
            </a:extLst>
          </p:cNvPr>
          <p:cNvSpPr>
            <a:spLocks noGrp="1"/>
          </p:cNvSpPr>
          <p:nvPr/>
        </p:nvSpPr>
        <p:spPr>
          <a:xfrm>
            <a:off x="6477000" y="2902268"/>
            <a:ext cx="5095875" cy="723900"/>
          </a:xfrm>
          <a:prstGeom prst="rect">
            <a:avLst/>
          </a:prstGeom>
          <a:noFill/>
          <a:ln w="0">
            <a:noFill/>
          </a:ln>
        </p:spPr>
        <p:txBody>
          <a:bodyPr wrap="none" lIns="0" tIns="0" rIns="0" bIns="0">
            <a:noAutofit/>
          </a:bodyPr>
          <a:lstStyle/>
          <a:p>
            <a:pPr>
              <a:defRPr sz="1500" b="0">
                <a:solidFill>
                  <a:srgbClr val="52605E"/>
                </a:solidFill>
                <a:latin typeface="DejaVu Sans"/>
                <a:ea typeface="DejaVu Sans"/>
                <a:cs typeface="DejaVu Sans"/>
              </a:defRPr>
            </a:pPr>
            <a:r>
              <a:rPr sz="1500" b="0">
                <a:solidFill>
                  <a:srgbClr val="52605E"/>
                </a:solidFill>
                <a:latin typeface="DejaVu Sans"/>
                <a:ea typeface="DejaVu Sans"/>
                <a:cs typeface="DejaVu Sans"/>
              </a:rPr>
              <a:t>Здесь вы открываете и проверяете страницу</a:t>
            </a:r>
          </a:p>
        </p:txBody>
      </p:sp>
      <p:sp>
        <p:nvSpPr>
          <p:cNvPr id="8" name="index.html">
            <a:extLst>
              <a:ext uri="{FF2B5EF4-FFF2-40B4-BE49-F238E27FC236}">
                <a16:creationId xmlns:a16="http://schemas.microsoft.com/office/drawing/2014/main" id="{96995A42-3083-482C-896B-42769BF8D014}"/>
              </a:ext>
            </a:extLst>
          </p:cNvPr>
          <p:cNvSpPr>
            <a:spLocks noGrp="1"/>
          </p:cNvSpPr>
          <p:nvPr/>
        </p:nvSpPr>
        <p:spPr>
          <a:xfrm>
            <a:off x="647700" y="3981450"/>
            <a:ext cx="8096250" cy="781050"/>
          </a:xfrm>
          <a:prstGeom prst="rect">
            <a:avLst/>
          </a:prstGeom>
          <a:noFill/>
          <a:ln w="0">
            <a:noFill/>
          </a:ln>
        </p:spPr>
        <p:txBody>
          <a:bodyPr wrap="none" lIns="0" tIns="0" rIns="0" bIns="0">
            <a:noAutofit/>
          </a:bodyPr>
          <a:lstStyle/>
          <a:p>
            <a:pPr>
              <a:defRPr sz="4125" b="0">
                <a:solidFill>
                  <a:srgbClr val="3E6553"/>
                </a:solidFill>
                <a:latin typeface="DejaVu Sans Mono"/>
                <a:ea typeface="DejaVu Sans Mono"/>
                <a:cs typeface="DejaVu Sans Mono"/>
              </a:defRPr>
            </a:pPr>
            <a:r>
              <a:rPr sz="4125" b="0">
                <a:solidFill>
                  <a:srgbClr val="3E6553"/>
                </a:solidFill>
                <a:latin typeface="DejaVu Sans Mono"/>
                <a:ea typeface="DejaVu Sans Mono"/>
                <a:cs typeface="DejaVu Sans Mono"/>
              </a:rPr>
              <a:t>index.html</a:t>
            </a:r>
          </a:p>
        </p:txBody>
      </p:sp>
      <p:sp>
        <p:nvSpPr>
          <p:cNvPr id="9" name="Create a folder. Save the file. Open it in a browser.">
            <a:extLst>
              <a:ext uri="{FF2B5EF4-FFF2-40B4-BE49-F238E27FC236}">
                <a16:creationId xmlns:a16="http://schemas.microsoft.com/office/drawing/2014/main" id="{67BEAE44-0529-410C-80A7-3F299E297AED}"/>
              </a:ext>
            </a:extLst>
          </p:cNvPr>
          <p:cNvSpPr>
            <a:spLocks noGrp="1"/>
          </p:cNvSpPr>
          <p:nvPr/>
        </p:nvSpPr>
        <p:spPr>
          <a:xfrm>
            <a:off x="647700" y="5191125"/>
            <a:ext cx="10810875" cy="457200"/>
          </a:xfrm>
          <a:prstGeom prst="rect">
            <a:avLst/>
          </a:prstGeom>
          <a:noFill/>
          <a:ln w="0">
            <a:noFill/>
          </a:ln>
        </p:spPr>
        <p:txBody>
          <a:bodyPr wrap="none" lIns="0" tIns="0" rIns="0" bIns="0">
            <a:noAutofit/>
          </a:bodyPr>
          <a:lstStyle/>
          <a:p>
            <a:pPr>
              <a:defRPr sz="2100" b="1">
                <a:solidFill>
                  <a:srgbClr val="182121"/>
                </a:solidFill>
                <a:latin typeface="DejaVu Sans"/>
                <a:ea typeface="DejaVu Sans"/>
                <a:cs typeface="DejaVu Sans"/>
              </a:defRPr>
            </a:pPr>
            <a:r>
              <a:rPr sz="2100" b="1">
                <a:solidFill>
                  <a:srgbClr val="182121"/>
                </a:solidFill>
                <a:latin typeface="DejaVu Sans"/>
                <a:ea typeface="DejaVu Sans"/>
                <a:cs typeface="DejaVu Sans"/>
              </a:rPr>
              <a:t>Create a folder. Save the file. Open it in a browser.</a:t>
            </a:r>
          </a:p>
        </p:txBody>
      </p:sp>
      <p:sp>
        <p:nvSpPr>
          <p:cNvPr id="10" name="Создайте папку, сохраните файл и откройте его в браузере.">
            <a:extLst>
              <a:ext uri="{FF2B5EF4-FFF2-40B4-BE49-F238E27FC236}">
                <a16:creationId xmlns:a16="http://schemas.microsoft.com/office/drawing/2014/main" id="{79791A3F-A8F0-4443-9FCC-635B21B1641B}"/>
              </a:ext>
            </a:extLst>
          </p:cNvPr>
          <p:cNvSpPr>
            <a:spLocks noGrp="1"/>
          </p:cNvSpPr>
          <p:nvPr/>
        </p:nvSpPr>
        <p:spPr>
          <a:xfrm>
            <a:off x="647700" y="5686425"/>
            <a:ext cx="10810875" cy="400050"/>
          </a:xfrm>
          <a:prstGeom prst="rect">
            <a:avLst/>
          </a:prstGeom>
          <a:noFill/>
          <a:ln w="0">
            <a:noFill/>
          </a:ln>
        </p:spPr>
        <p:txBody>
          <a:bodyPr wrap="none" lIns="0" tIns="0" rIns="0" bIns="0">
            <a:noAutofit/>
          </a:bodyPr>
          <a:lstStyle/>
          <a:p>
            <a:pPr>
              <a:defRPr sz="1575" b="0">
                <a:solidFill>
                  <a:srgbClr val="52605E"/>
                </a:solidFill>
                <a:latin typeface="DejaVu Sans"/>
                <a:ea typeface="DejaVu Sans"/>
                <a:cs typeface="DejaVu Sans"/>
              </a:defRPr>
            </a:pPr>
            <a:r>
              <a:rPr sz="1575" b="0">
                <a:solidFill>
                  <a:srgbClr val="52605E"/>
                </a:solidFill>
                <a:latin typeface="DejaVu Sans"/>
                <a:ea typeface="DejaVu Sans"/>
                <a:cs typeface="DejaVu Sans"/>
              </a:rPr>
              <a:t>Создайте папку, сохраните файл и откройте его в браузере.</a:t>
            </a:r>
          </a:p>
        </p:txBody>
      </p:sp>
    </p:spTree>
    <p:extLst>
      <p:ext uri="{BB962C8B-B14F-4D97-AF65-F5344CB8AC3E}">
        <p14:creationId xmlns:p14="http://schemas.microsoft.com/office/powerpoint/2010/main" val="2145611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10" name="What is HTML?">
            <a:extLst>
              <a:ext uri="{FF2B5EF4-FFF2-40B4-BE49-F238E27FC236}">
                <a16:creationId xmlns:a16="http://schemas.microsoft.com/office/drawing/2014/main" id="{C74A4483-BCAE-4E36-841E-F0900CF90023}"/>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What is HTML?</a:t>
            </a:r>
          </a:p>
        </p:txBody>
      </p:sp>
      <p:sp>
        <p:nvSpPr>
          <p:cNvPr id="2" name="HTML описывает структуру и смысл содержимого">
            <a:extLst>
              <a:ext uri="{FF2B5EF4-FFF2-40B4-BE49-F238E27FC236}">
                <a16:creationId xmlns:a16="http://schemas.microsoft.com/office/drawing/2014/main" id="{884A62DF-538F-4A6B-85A7-F4A16DCC40BD}"/>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HTML описывает структуру и смысл содержимого</a:t>
            </a:r>
          </a:p>
        </p:txBody>
      </p:sp>
      <p:sp>
        <p:nvSpPr>
          <p:cNvPr id="3" name="06">
            <a:extLst>
              <a:ext uri="{FF2B5EF4-FFF2-40B4-BE49-F238E27FC236}">
                <a16:creationId xmlns:a16="http://schemas.microsoft.com/office/drawing/2014/main" id="{E61B8468-7525-4D97-8ECE-2E696328C7A1}"/>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06</a:t>
            </a:r>
          </a:p>
        </p:txBody>
      </p:sp>
      <p:sp>
        <p:nvSpPr>
          <p:cNvPr id="4" name="HyperText Markup Language">
            <a:extLst>
              <a:ext uri="{FF2B5EF4-FFF2-40B4-BE49-F238E27FC236}">
                <a16:creationId xmlns:a16="http://schemas.microsoft.com/office/drawing/2014/main" id="{83D8BD79-F80A-4C29-866B-62F45F587408}"/>
              </a:ext>
            </a:extLst>
          </p:cNvPr>
          <p:cNvSpPr>
            <a:spLocks noGrp="1"/>
          </p:cNvSpPr>
          <p:nvPr/>
        </p:nvSpPr>
        <p:spPr>
          <a:xfrm>
            <a:off x="628650" y="2076450"/>
            <a:ext cx="10934700" cy="581025"/>
          </a:xfrm>
          <a:prstGeom prst="rect">
            <a:avLst/>
          </a:prstGeom>
          <a:noFill/>
          <a:ln w="0">
            <a:noFill/>
          </a:ln>
        </p:spPr>
        <p:txBody>
          <a:bodyPr wrap="none" lIns="0" tIns="0" rIns="0" bIns="0">
            <a:noAutofit/>
          </a:bodyPr>
          <a:lstStyle/>
          <a:p>
            <a:pPr>
              <a:defRPr sz="3000" b="1">
                <a:solidFill>
                  <a:srgbClr val="D3F879"/>
                </a:solidFill>
                <a:latin typeface="DejaVu Sans"/>
                <a:ea typeface="DejaVu Sans"/>
                <a:cs typeface="DejaVu Sans"/>
              </a:defRPr>
            </a:pPr>
            <a:r>
              <a:rPr sz="3000" b="1">
                <a:solidFill>
                  <a:srgbClr val="D3F879"/>
                </a:solidFill>
                <a:latin typeface="DejaVu Sans"/>
                <a:ea typeface="DejaVu Sans"/>
                <a:cs typeface="DejaVu Sans"/>
              </a:rPr>
              <a:t>HyperText Markup Language</a:t>
            </a:r>
          </a:p>
        </p:txBody>
      </p:sp>
      <p:sp>
        <p:nvSpPr>
          <p:cNvPr id="5" name="Elements tell the browser what the content means.">
            <a:extLst>
              <a:ext uri="{FF2B5EF4-FFF2-40B4-BE49-F238E27FC236}">
                <a16:creationId xmlns:a16="http://schemas.microsoft.com/office/drawing/2014/main" id="{203BC324-8895-4306-B540-9A13D7B8545D}"/>
              </a:ext>
            </a:extLst>
          </p:cNvPr>
          <p:cNvSpPr>
            <a:spLocks noGrp="1"/>
          </p:cNvSpPr>
          <p:nvPr/>
        </p:nvSpPr>
        <p:spPr>
          <a:xfrm>
            <a:off x="628650" y="2933700"/>
            <a:ext cx="10934700" cy="523875"/>
          </a:xfrm>
          <a:prstGeom prst="rect">
            <a:avLst/>
          </a:prstGeom>
          <a:noFill/>
          <a:ln w="0">
            <a:noFill/>
          </a:ln>
        </p:spPr>
        <p:txBody>
          <a:bodyPr wrap="none" lIns="0" tIns="0" rIns="0" bIns="0">
            <a:noAutofit/>
          </a:bodyPr>
          <a:lstStyle/>
          <a:p>
            <a:pPr>
              <a:defRPr sz="2250" b="0">
                <a:solidFill>
                  <a:srgbClr val="F5F5EE"/>
                </a:solidFill>
                <a:latin typeface="DejaVu Sans"/>
                <a:ea typeface="DejaVu Sans"/>
                <a:cs typeface="DejaVu Sans"/>
              </a:defRPr>
            </a:pPr>
            <a:r>
              <a:rPr sz="2250" b="0">
                <a:solidFill>
                  <a:srgbClr val="F5F5EE"/>
                </a:solidFill>
                <a:latin typeface="DejaVu Sans"/>
                <a:ea typeface="DejaVu Sans"/>
                <a:cs typeface="DejaVu Sans"/>
              </a:rPr>
              <a:t>Elements tell the browser what the content means.</a:t>
            </a:r>
          </a:p>
        </p:txBody>
      </p:sp>
      <p:sp>
        <p:nvSpPr>
          <p:cNvPr id="6" name="&lt;h1&gt;Ala-Too University&lt;/h1&gt;">
            <a:extLst>
              <a:ext uri="{FF2B5EF4-FFF2-40B4-BE49-F238E27FC236}">
                <a16:creationId xmlns:a16="http://schemas.microsoft.com/office/drawing/2014/main" id="{EB6C0718-F440-49DD-A3D9-186CFD37D14D}"/>
              </a:ext>
            </a:extLst>
          </p:cNvPr>
          <p:cNvSpPr>
            <a:spLocks noGrp="1"/>
          </p:cNvSpPr>
          <p:nvPr/>
        </p:nvSpPr>
        <p:spPr>
          <a:xfrm>
            <a:off x="657225" y="3933825"/>
            <a:ext cx="10668000" cy="666750"/>
          </a:xfrm>
          <a:prstGeom prst="rect">
            <a:avLst/>
          </a:prstGeom>
          <a:noFill/>
          <a:ln w="0">
            <a:noFill/>
          </a:ln>
        </p:spPr>
        <p:txBody>
          <a:bodyPr wrap="none" lIns="0" tIns="0" rIns="0" bIns="0">
            <a:noAutofit/>
          </a:bodyPr>
          <a:lstStyle/>
          <a:p>
            <a:pPr>
              <a:defRPr sz="2475" b="0">
                <a:solidFill>
                  <a:srgbClr val="F5F5EE"/>
                </a:solidFill>
                <a:latin typeface="DejaVu Sans Mono"/>
                <a:ea typeface="DejaVu Sans Mono"/>
                <a:cs typeface="DejaVu Sans Mono"/>
              </a:defRPr>
            </a:pPr>
            <a:r>
              <a:rPr>
                <a:solidFill>
                  <a:srgbClr val="86DBD3"/>
                </a:solidFill>
              </a:rPr>
              <a:t>&lt;h1&gt;</a:t>
            </a:r>
            <a:r>
              <a:rPr>
                <a:solidFill>
                  <a:srgbClr val="F5F5EE"/>
                </a:solidFill>
              </a:rPr>
              <a:t>Ala-Too University</a:t>
            </a:r>
            <a:r>
              <a:rPr>
                <a:solidFill>
                  <a:srgbClr val="86DBD3"/>
                </a:solidFill>
              </a:rPr>
              <a:t>&lt;/h1&gt;</a:t>
            </a:r>
          </a:p>
        </p:txBody>
      </p:sp>
      <p:sp>
        <p:nvSpPr>
          <p:cNvPr id="7" name="&lt;p&gt;Welcome to our student page.&lt;/p&gt;">
            <a:extLst>
              <a:ext uri="{FF2B5EF4-FFF2-40B4-BE49-F238E27FC236}">
                <a16:creationId xmlns:a16="http://schemas.microsoft.com/office/drawing/2014/main" id="{09F91C47-5D2F-450C-AEE8-F7B9EFAC7ACD}"/>
              </a:ext>
            </a:extLst>
          </p:cNvPr>
          <p:cNvSpPr>
            <a:spLocks noGrp="1"/>
          </p:cNvSpPr>
          <p:nvPr/>
        </p:nvSpPr>
        <p:spPr>
          <a:xfrm>
            <a:off x="657225" y="4572000"/>
            <a:ext cx="10668000" cy="666750"/>
          </a:xfrm>
          <a:prstGeom prst="rect">
            <a:avLst/>
          </a:prstGeom>
          <a:noFill/>
          <a:ln w="0">
            <a:noFill/>
          </a:ln>
        </p:spPr>
        <p:txBody>
          <a:bodyPr wrap="none" lIns="0" tIns="0" rIns="0" bIns="0">
            <a:noAutofit/>
          </a:bodyPr>
          <a:lstStyle/>
          <a:p>
            <a:pPr>
              <a:defRPr sz="2475" b="0">
                <a:solidFill>
                  <a:srgbClr val="F5F5EE"/>
                </a:solidFill>
                <a:latin typeface="DejaVu Sans Mono"/>
                <a:ea typeface="DejaVu Sans Mono"/>
                <a:cs typeface="DejaVu Sans Mono"/>
              </a:defRPr>
            </a:pPr>
            <a:r>
              <a:rPr>
                <a:solidFill>
                  <a:srgbClr val="86DBD3"/>
                </a:solidFill>
              </a:rPr>
              <a:t>&lt;p&gt;</a:t>
            </a:r>
            <a:r>
              <a:rPr>
                <a:solidFill>
                  <a:srgbClr val="F5F5EE"/>
                </a:solidFill>
              </a:rPr>
              <a:t>Welcome to our student page.</a:t>
            </a:r>
            <a:r>
              <a:rPr>
                <a:solidFill>
                  <a:srgbClr val="86DBD3"/>
                </a:solidFill>
              </a:rPr>
              <a:t>&lt;/p&gt;</a:t>
            </a:r>
          </a:p>
        </p:txBody>
      </p:sp>
      <p:sp>
        <p:nvSpPr>
          <p:cNvPr id="8" name="A heading and a paragraph">
            <a:extLst>
              <a:ext uri="{FF2B5EF4-FFF2-40B4-BE49-F238E27FC236}">
                <a16:creationId xmlns:a16="http://schemas.microsoft.com/office/drawing/2014/main" id="{096D4204-CF1C-4720-9D3A-9AEE2E7E36E3}"/>
              </a:ext>
            </a:extLst>
          </p:cNvPr>
          <p:cNvSpPr>
            <a:spLocks noGrp="1"/>
          </p:cNvSpPr>
          <p:nvPr/>
        </p:nvSpPr>
        <p:spPr>
          <a:xfrm>
            <a:off x="647700" y="5429250"/>
            <a:ext cx="10477500" cy="409575"/>
          </a:xfrm>
          <a:prstGeom prst="rect">
            <a:avLst/>
          </a:prstGeom>
          <a:noFill/>
          <a:ln w="0">
            <a:noFill/>
          </a:ln>
        </p:spPr>
        <p:txBody>
          <a:bodyPr wrap="none" lIns="0" tIns="0" rIns="0" bIns="0">
            <a:noAutofit/>
          </a:bodyPr>
          <a:lstStyle/>
          <a:p>
            <a:pPr>
              <a:defRPr sz="2100" b="1">
                <a:solidFill>
                  <a:srgbClr val="F5F5EE"/>
                </a:solidFill>
                <a:latin typeface="DejaVu Sans"/>
                <a:ea typeface="DejaVu Sans"/>
                <a:cs typeface="DejaVu Sans"/>
              </a:defRPr>
            </a:pPr>
            <a:r>
              <a:rPr sz="2100" b="1">
                <a:solidFill>
                  <a:srgbClr val="F5F5EE"/>
                </a:solidFill>
                <a:latin typeface="DejaVu Sans"/>
                <a:ea typeface="DejaVu Sans"/>
                <a:cs typeface="DejaVu Sans"/>
              </a:rPr>
              <a:t>A heading and a paragraph</a:t>
            </a:r>
          </a:p>
        </p:txBody>
      </p:sp>
      <p:sp>
        <p:nvSpPr>
          <p:cNvPr id="9" name="Заголовок и абзац">
            <a:extLst>
              <a:ext uri="{FF2B5EF4-FFF2-40B4-BE49-F238E27FC236}">
                <a16:creationId xmlns:a16="http://schemas.microsoft.com/office/drawing/2014/main" id="{5C504FFC-EF13-4895-8791-794D357E81F0}"/>
              </a:ext>
            </a:extLst>
          </p:cNvPr>
          <p:cNvSpPr>
            <a:spLocks noGrp="1"/>
          </p:cNvSpPr>
          <p:nvPr/>
        </p:nvSpPr>
        <p:spPr>
          <a:xfrm>
            <a:off x="647700" y="5857875"/>
            <a:ext cx="10477500" cy="314325"/>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Заголовок и абзац</a:t>
            </a:r>
          </a:p>
        </p:txBody>
      </p:sp>
    </p:spTree>
    <p:extLst>
      <p:ext uri="{BB962C8B-B14F-4D97-AF65-F5344CB8AC3E}">
        <p14:creationId xmlns:p14="http://schemas.microsoft.com/office/powerpoint/2010/main" val="1936193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15" name="Anatomy of an element">
            <a:extLst>
              <a:ext uri="{FF2B5EF4-FFF2-40B4-BE49-F238E27FC236}">
                <a16:creationId xmlns:a16="http://schemas.microsoft.com/office/drawing/2014/main" id="{030D02F3-91BC-4A9B-995E-E0F06EB8BA7F}"/>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Anatomy of an element</a:t>
            </a:r>
          </a:p>
        </p:txBody>
      </p:sp>
      <p:sp>
        <p:nvSpPr>
          <p:cNvPr id="2" name="Тег, содержимое и элемент целиком">
            <a:extLst>
              <a:ext uri="{FF2B5EF4-FFF2-40B4-BE49-F238E27FC236}">
                <a16:creationId xmlns:a16="http://schemas.microsoft.com/office/drawing/2014/main" id="{9C27109E-3F9A-40D3-96A3-9E618CBF65FF}"/>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Тег, содержимое и элемент целиком</a:t>
            </a:r>
          </a:p>
        </p:txBody>
      </p:sp>
      <p:sp>
        <p:nvSpPr>
          <p:cNvPr id="3" name="07">
            <a:extLst>
              <a:ext uri="{FF2B5EF4-FFF2-40B4-BE49-F238E27FC236}">
                <a16:creationId xmlns:a16="http://schemas.microsoft.com/office/drawing/2014/main" id="{BC3BD333-7388-4E79-A5E7-11E6D20CFC05}"/>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07</a:t>
            </a:r>
          </a:p>
        </p:txBody>
      </p:sp>
      <p:sp>
        <p:nvSpPr>
          <p:cNvPr id="4" name="&lt;p&gt;">
            <a:extLst>
              <a:ext uri="{FF2B5EF4-FFF2-40B4-BE49-F238E27FC236}">
                <a16:creationId xmlns:a16="http://schemas.microsoft.com/office/drawing/2014/main" id="{C4189441-E345-4172-B3E2-5F4EA221A513}"/>
              </a:ext>
            </a:extLst>
          </p:cNvPr>
          <p:cNvSpPr>
            <a:spLocks noGrp="1"/>
          </p:cNvSpPr>
          <p:nvPr/>
        </p:nvSpPr>
        <p:spPr>
          <a:xfrm>
            <a:off x="638175" y="2419350"/>
            <a:ext cx="2114550" cy="933450"/>
          </a:xfrm>
          <a:prstGeom prst="rect">
            <a:avLst/>
          </a:prstGeom>
          <a:noFill/>
          <a:ln w="0">
            <a:noFill/>
          </a:ln>
        </p:spPr>
        <p:txBody>
          <a:bodyPr wrap="none" lIns="0" tIns="0" rIns="0" bIns="0">
            <a:noAutofit/>
          </a:bodyPr>
          <a:lstStyle/>
          <a:p>
            <a:pPr>
              <a:defRPr sz="4875" b="0">
                <a:solidFill>
                  <a:srgbClr val="86DBD3"/>
                </a:solidFill>
                <a:latin typeface="DejaVu Sans Mono"/>
                <a:ea typeface="DejaVu Sans Mono"/>
                <a:cs typeface="DejaVu Sans Mono"/>
              </a:defRPr>
            </a:pPr>
            <a:r>
              <a:rPr sz="4875" b="0">
                <a:solidFill>
                  <a:srgbClr val="86DBD3"/>
                </a:solidFill>
                <a:latin typeface="DejaVu Sans Mono"/>
                <a:ea typeface="DejaVu Sans Mono"/>
                <a:cs typeface="DejaVu Sans Mono"/>
              </a:rPr>
              <a:t>&lt;p&gt;</a:t>
            </a:r>
          </a:p>
        </p:txBody>
      </p:sp>
      <p:sp>
        <p:nvSpPr>
          <p:cNvPr id="5" name="Hello, Ala-Too!">
            <a:extLst>
              <a:ext uri="{FF2B5EF4-FFF2-40B4-BE49-F238E27FC236}">
                <a16:creationId xmlns:a16="http://schemas.microsoft.com/office/drawing/2014/main" id="{C44EA161-6B56-498D-8F06-EB93D23624C5}"/>
              </a:ext>
            </a:extLst>
          </p:cNvPr>
          <p:cNvSpPr>
            <a:spLocks noGrp="1"/>
          </p:cNvSpPr>
          <p:nvPr/>
        </p:nvSpPr>
        <p:spPr>
          <a:xfrm>
            <a:off x="2524125" y="2419350"/>
            <a:ext cx="6191250" cy="933450"/>
          </a:xfrm>
          <a:prstGeom prst="rect">
            <a:avLst/>
          </a:prstGeom>
          <a:noFill/>
          <a:ln w="0">
            <a:noFill/>
          </a:ln>
        </p:spPr>
        <p:txBody>
          <a:bodyPr wrap="none" lIns="0" tIns="0" rIns="0" bIns="0">
            <a:noAutofit/>
          </a:bodyPr>
          <a:lstStyle/>
          <a:p>
            <a:pPr>
              <a:defRPr sz="4275" b="0">
                <a:solidFill>
                  <a:srgbClr val="F5F5EE"/>
                </a:solidFill>
                <a:latin typeface="DejaVu Sans Mono"/>
                <a:ea typeface="DejaVu Sans Mono"/>
                <a:cs typeface="DejaVu Sans Mono"/>
              </a:defRPr>
            </a:pPr>
            <a:r>
              <a:rPr sz="4275" b="0">
                <a:solidFill>
                  <a:srgbClr val="F5F5EE"/>
                </a:solidFill>
                <a:latin typeface="DejaVu Sans Mono"/>
                <a:ea typeface="DejaVu Sans Mono"/>
                <a:cs typeface="DejaVu Sans Mono"/>
              </a:rPr>
              <a:t>Hello, Ala-Too!</a:t>
            </a:r>
          </a:p>
        </p:txBody>
      </p:sp>
      <p:sp>
        <p:nvSpPr>
          <p:cNvPr id="6" name="&lt;/p&gt;">
            <a:extLst>
              <a:ext uri="{FF2B5EF4-FFF2-40B4-BE49-F238E27FC236}">
                <a16:creationId xmlns:a16="http://schemas.microsoft.com/office/drawing/2014/main" id="{4DCA6E9A-CA13-43AC-B1B4-6BFA0E9D1511}"/>
              </a:ext>
            </a:extLst>
          </p:cNvPr>
          <p:cNvSpPr>
            <a:spLocks noGrp="1"/>
          </p:cNvSpPr>
          <p:nvPr/>
        </p:nvSpPr>
        <p:spPr>
          <a:xfrm>
            <a:off x="8963025" y="2419350"/>
            <a:ext cx="2571750" cy="933450"/>
          </a:xfrm>
          <a:prstGeom prst="rect">
            <a:avLst/>
          </a:prstGeom>
          <a:noFill/>
          <a:ln w="0">
            <a:noFill/>
          </a:ln>
        </p:spPr>
        <p:txBody>
          <a:bodyPr wrap="none" lIns="0" tIns="0" rIns="0" bIns="0">
            <a:noAutofit/>
          </a:bodyPr>
          <a:lstStyle/>
          <a:p>
            <a:pPr>
              <a:defRPr sz="4875" b="0">
                <a:solidFill>
                  <a:srgbClr val="86DBD3"/>
                </a:solidFill>
                <a:latin typeface="DejaVu Sans Mono"/>
                <a:ea typeface="DejaVu Sans Mono"/>
                <a:cs typeface="DejaVu Sans Mono"/>
              </a:defRPr>
            </a:pPr>
            <a:r>
              <a:rPr sz="4875" b="0">
                <a:solidFill>
                  <a:srgbClr val="86DBD3"/>
                </a:solidFill>
                <a:latin typeface="DejaVu Sans Mono"/>
                <a:ea typeface="DejaVu Sans Mono"/>
                <a:cs typeface="DejaVu Sans Mono"/>
              </a:rPr>
              <a:t>&lt;/p&gt;</a:t>
            </a:r>
          </a:p>
        </p:txBody>
      </p:sp>
      <p:sp>
        <p:nvSpPr>
          <p:cNvPr id="7" name="Opening tag">
            <a:extLst>
              <a:ext uri="{FF2B5EF4-FFF2-40B4-BE49-F238E27FC236}">
                <a16:creationId xmlns:a16="http://schemas.microsoft.com/office/drawing/2014/main" id="{9707077A-FA79-4133-B89E-8A8020697557}"/>
              </a:ext>
            </a:extLst>
          </p:cNvPr>
          <p:cNvSpPr>
            <a:spLocks noGrp="1"/>
          </p:cNvSpPr>
          <p:nvPr/>
        </p:nvSpPr>
        <p:spPr>
          <a:xfrm>
            <a:off x="647700" y="3705225"/>
            <a:ext cx="3143250" cy="385286"/>
          </a:xfrm>
          <a:prstGeom prst="rect">
            <a:avLst/>
          </a:prstGeom>
          <a:noFill/>
          <a:ln w="0">
            <a:noFill/>
          </a:ln>
        </p:spPr>
        <p:txBody>
          <a:bodyPr wrap="none" lIns="0" tIns="0" rIns="0" bIns="0">
            <a:noAutofit/>
          </a:bodyPr>
          <a:lstStyle/>
          <a:p>
            <a:pPr>
              <a:defRPr sz="2025" b="1">
                <a:solidFill>
                  <a:srgbClr val="F5F5EE"/>
                </a:solidFill>
                <a:latin typeface="DejaVu Sans"/>
                <a:ea typeface="DejaVu Sans"/>
                <a:cs typeface="DejaVu Sans"/>
              </a:defRPr>
            </a:pPr>
            <a:r>
              <a:rPr sz="2025" b="1">
                <a:solidFill>
                  <a:srgbClr val="F5F5EE"/>
                </a:solidFill>
                <a:latin typeface="DejaVu Sans"/>
                <a:ea typeface="DejaVu Sans"/>
                <a:cs typeface="DejaVu Sans"/>
              </a:rPr>
              <a:t>Opening tag</a:t>
            </a:r>
          </a:p>
        </p:txBody>
      </p:sp>
      <p:sp>
        <p:nvSpPr>
          <p:cNvPr id="8" name="Открывающий тег">
            <a:extLst>
              <a:ext uri="{FF2B5EF4-FFF2-40B4-BE49-F238E27FC236}">
                <a16:creationId xmlns:a16="http://schemas.microsoft.com/office/drawing/2014/main" id="{FEF7DDE1-0C16-4470-AE68-4526EDC92524}"/>
              </a:ext>
            </a:extLst>
          </p:cNvPr>
          <p:cNvSpPr>
            <a:spLocks noGrp="1"/>
          </p:cNvSpPr>
          <p:nvPr/>
        </p:nvSpPr>
        <p:spPr>
          <a:xfrm>
            <a:off x="647700" y="4176236"/>
            <a:ext cx="314325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Открывающий тег</a:t>
            </a:r>
          </a:p>
        </p:txBody>
      </p:sp>
      <p:sp>
        <p:nvSpPr>
          <p:cNvPr id="9" name="Content">
            <a:extLst>
              <a:ext uri="{FF2B5EF4-FFF2-40B4-BE49-F238E27FC236}">
                <a16:creationId xmlns:a16="http://schemas.microsoft.com/office/drawing/2014/main" id="{2DCF9D26-0798-4296-846E-240C8E7CDCE8}"/>
              </a:ext>
            </a:extLst>
          </p:cNvPr>
          <p:cNvSpPr>
            <a:spLocks noGrp="1"/>
          </p:cNvSpPr>
          <p:nvPr/>
        </p:nvSpPr>
        <p:spPr>
          <a:xfrm>
            <a:off x="4591050" y="3705225"/>
            <a:ext cx="3238500" cy="385286"/>
          </a:xfrm>
          <a:prstGeom prst="rect">
            <a:avLst/>
          </a:prstGeom>
          <a:noFill/>
          <a:ln w="0">
            <a:noFill/>
          </a:ln>
        </p:spPr>
        <p:txBody>
          <a:bodyPr wrap="none" lIns="0" tIns="0" rIns="0" bIns="0">
            <a:noAutofit/>
          </a:bodyPr>
          <a:lstStyle/>
          <a:p>
            <a:pPr>
              <a:defRPr sz="2025" b="1">
                <a:solidFill>
                  <a:srgbClr val="F5F5EE"/>
                </a:solidFill>
                <a:latin typeface="DejaVu Sans"/>
                <a:ea typeface="DejaVu Sans"/>
                <a:cs typeface="DejaVu Sans"/>
              </a:defRPr>
            </a:pPr>
            <a:r>
              <a:rPr sz="2025" b="1">
                <a:solidFill>
                  <a:srgbClr val="F5F5EE"/>
                </a:solidFill>
                <a:latin typeface="DejaVu Sans"/>
                <a:ea typeface="DejaVu Sans"/>
                <a:cs typeface="DejaVu Sans"/>
              </a:rPr>
              <a:t>Content</a:t>
            </a:r>
          </a:p>
        </p:txBody>
      </p:sp>
      <p:sp>
        <p:nvSpPr>
          <p:cNvPr id="10" name="Содержимое">
            <a:extLst>
              <a:ext uri="{FF2B5EF4-FFF2-40B4-BE49-F238E27FC236}">
                <a16:creationId xmlns:a16="http://schemas.microsoft.com/office/drawing/2014/main" id="{241328C2-36C5-45DC-BF71-305179B8DDF0}"/>
              </a:ext>
            </a:extLst>
          </p:cNvPr>
          <p:cNvSpPr>
            <a:spLocks noGrp="1"/>
          </p:cNvSpPr>
          <p:nvPr/>
        </p:nvSpPr>
        <p:spPr>
          <a:xfrm>
            <a:off x="4591050" y="4176236"/>
            <a:ext cx="323850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Содержимое</a:t>
            </a:r>
          </a:p>
        </p:txBody>
      </p:sp>
      <p:sp>
        <p:nvSpPr>
          <p:cNvPr id="11" name="Closing tag">
            <a:extLst>
              <a:ext uri="{FF2B5EF4-FFF2-40B4-BE49-F238E27FC236}">
                <a16:creationId xmlns:a16="http://schemas.microsoft.com/office/drawing/2014/main" id="{DDF3844D-5606-4FAC-A093-0E00C7614F1A}"/>
              </a:ext>
            </a:extLst>
          </p:cNvPr>
          <p:cNvSpPr>
            <a:spLocks noGrp="1"/>
          </p:cNvSpPr>
          <p:nvPr/>
        </p:nvSpPr>
        <p:spPr>
          <a:xfrm>
            <a:off x="8972550" y="3705225"/>
            <a:ext cx="2714625" cy="385286"/>
          </a:xfrm>
          <a:prstGeom prst="rect">
            <a:avLst/>
          </a:prstGeom>
          <a:noFill/>
          <a:ln w="0">
            <a:noFill/>
          </a:ln>
        </p:spPr>
        <p:txBody>
          <a:bodyPr wrap="none" lIns="0" tIns="0" rIns="0" bIns="0">
            <a:noAutofit/>
          </a:bodyPr>
          <a:lstStyle/>
          <a:p>
            <a:pPr>
              <a:defRPr sz="2025" b="1">
                <a:solidFill>
                  <a:srgbClr val="F5F5EE"/>
                </a:solidFill>
                <a:latin typeface="DejaVu Sans"/>
                <a:ea typeface="DejaVu Sans"/>
                <a:cs typeface="DejaVu Sans"/>
              </a:defRPr>
            </a:pPr>
            <a:r>
              <a:rPr sz="2025" b="1">
                <a:solidFill>
                  <a:srgbClr val="F5F5EE"/>
                </a:solidFill>
                <a:latin typeface="DejaVu Sans"/>
                <a:ea typeface="DejaVu Sans"/>
                <a:cs typeface="DejaVu Sans"/>
              </a:rPr>
              <a:t>Closing tag</a:t>
            </a:r>
          </a:p>
        </p:txBody>
      </p:sp>
      <p:sp>
        <p:nvSpPr>
          <p:cNvPr id="12" name="Закрывающий тег">
            <a:extLst>
              <a:ext uri="{FF2B5EF4-FFF2-40B4-BE49-F238E27FC236}">
                <a16:creationId xmlns:a16="http://schemas.microsoft.com/office/drawing/2014/main" id="{410836FF-F09E-4AD6-B1E7-D5FEC251DB42}"/>
              </a:ext>
            </a:extLst>
          </p:cNvPr>
          <p:cNvSpPr>
            <a:spLocks noGrp="1"/>
          </p:cNvSpPr>
          <p:nvPr/>
        </p:nvSpPr>
        <p:spPr>
          <a:xfrm>
            <a:off x="8972550" y="4176236"/>
            <a:ext cx="2714625"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Закрывающий тег</a:t>
            </a:r>
          </a:p>
        </p:txBody>
      </p:sp>
      <p:sp>
        <p:nvSpPr>
          <p:cNvPr id="13" name="The tags and their content form one element.">
            <a:extLst>
              <a:ext uri="{FF2B5EF4-FFF2-40B4-BE49-F238E27FC236}">
                <a16:creationId xmlns:a16="http://schemas.microsoft.com/office/drawing/2014/main" id="{22DBF9DD-AEB3-49C3-8BBA-EB5CA0B406C1}"/>
              </a:ext>
            </a:extLst>
          </p:cNvPr>
          <p:cNvSpPr>
            <a:spLocks noGrp="1"/>
          </p:cNvSpPr>
          <p:nvPr/>
        </p:nvSpPr>
        <p:spPr>
          <a:xfrm>
            <a:off x="628650" y="5629275"/>
            <a:ext cx="10934700" cy="381000"/>
          </a:xfrm>
          <a:prstGeom prst="rect">
            <a:avLst/>
          </a:prstGeom>
          <a:noFill/>
          <a:ln w="0">
            <a:noFill/>
          </a:ln>
        </p:spPr>
        <p:txBody>
          <a:bodyPr wrap="none" lIns="0" tIns="0" rIns="0" bIns="0">
            <a:noAutofit/>
          </a:bodyPr>
          <a:lstStyle/>
          <a:p>
            <a:pPr>
              <a:defRPr sz="1875" b="1">
                <a:solidFill>
                  <a:srgbClr val="D3F879"/>
                </a:solidFill>
                <a:latin typeface="DejaVu Sans"/>
                <a:ea typeface="DejaVu Sans"/>
                <a:cs typeface="DejaVu Sans"/>
              </a:defRPr>
            </a:pPr>
            <a:r>
              <a:rPr sz="1875" b="1">
                <a:solidFill>
                  <a:srgbClr val="D3F879"/>
                </a:solidFill>
                <a:latin typeface="DejaVu Sans"/>
                <a:ea typeface="DejaVu Sans"/>
                <a:cs typeface="DejaVu Sans"/>
              </a:rPr>
              <a:t>The tags and their content form one element.</a:t>
            </a:r>
          </a:p>
        </p:txBody>
      </p:sp>
      <p:sp>
        <p:nvSpPr>
          <p:cNvPr id="14" name="Теги вместе с содержимым образуют один HTML-элемент.">
            <a:extLst>
              <a:ext uri="{FF2B5EF4-FFF2-40B4-BE49-F238E27FC236}">
                <a16:creationId xmlns:a16="http://schemas.microsoft.com/office/drawing/2014/main" id="{887EED41-EE39-4912-A8B9-01265CDC2370}"/>
              </a:ext>
            </a:extLst>
          </p:cNvPr>
          <p:cNvSpPr>
            <a:spLocks noGrp="1"/>
          </p:cNvSpPr>
          <p:nvPr/>
        </p:nvSpPr>
        <p:spPr>
          <a:xfrm>
            <a:off x="628650" y="6048375"/>
            <a:ext cx="10934700" cy="342900"/>
          </a:xfrm>
          <a:prstGeom prst="rect">
            <a:avLst/>
          </a:prstGeom>
          <a:noFill/>
          <a:ln w="0">
            <a:noFill/>
          </a:ln>
        </p:spPr>
        <p:txBody>
          <a:bodyPr wrap="none" lIns="0" tIns="0" rIns="0" bIns="0">
            <a:noAutofit/>
          </a:bodyPr>
          <a:lstStyle/>
          <a:p>
            <a:pPr>
              <a:defRPr sz="1425" b="0">
                <a:solidFill>
                  <a:srgbClr val="ABB7B8"/>
                </a:solidFill>
                <a:latin typeface="DejaVu Sans"/>
                <a:ea typeface="DejaVu Sans"/>
                <a:cs typeface="DejaVu Sans"/>
              </a:defRPr>
            </a:pPr>
            <a:r>
              <a:rPr sz="1425" b="0">
                <a:solidFill>
                  <a:srgbClr val="ABB7B8"/>
                </a:solidFill>
                <a:latin typeface="DejaVu Sans"/>
                <a:ea typeface="DejaVu Sans"/>
                <a:cs typeface="DejaVu Sans"/>
              </a:rPr>
              <a:t>Теги вместе с содержимым образуют один HTML-элемент.</a:t>
            </a:r>
          </a:p>
        </p:txBody>
      </p:sp>
    </p:spTree>
    <p:extLst>
      <p:ext uri="{BB962C8B-B14F-4D97-AF65-F5344CB8AC3E}">
        <p14:creationId xmlns:p14="http://schemas.microsoft.com/office/powerpoint/2010/main" val="669796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12" name="Attributes">
            <a:extLst>
              <a:ext uri="{FF2B5EF4-FFF2-40B4-BE49-F238E27FC236}">
                <a16:creationId xmlns:a16="http://schemas.microsoft.com/office/drawing/2014/main" id="{A239BAF9-9ED9-4023-8906-E74D38510472}"/>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Attributes</a:t>
            </a:r>
          </a:p>
        </p:txBody>
      </p:sp>
      <p:sp>
        <p:nvSpPr>
          <p:cNvPr id="2" name="Атрибуты добавляют информацию об элементе">
            <a:extLst>
              <a:ext uri="{FF2B5EF4-FFF2-40B4-BE49-F238E27FC236}">
                <a16:creationId xmlns:a16="http://schemas.microsoft.com/office/drawing/2014/main" id="{23BCC47D-3A68-4AF8-BE29-1D28AEE9F276}"/>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Атрибуты добавляют информацию об элементе</a:t>
            </a:r>
          </a:p>
        </p:txBody>
      </p:sp>
      <p:sp>
        <p:nvSpPr>
          <p:cNvPr id="3" name="08">
            <a:extLst>
              <a:ext uri="{FF2B5EF4-FFF2-40B4-BE49-F238E27FC236}">
                <a16:creationId xmlns:a16="http://schemas.microsoft.com/office/drawing/2014/main" id="{53C00441-F5BD-4860-B186-E0FBBF671138}"/>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08</a:t>
            </a:r>
          </a:p>
        </p:txBody>
      </p:sp>
      <p:sp>
        <p:nvSpPr>
          <p:cNvPr id="4" name="&lt;a href=&quot;https://alatoo.edu.kg/&quot;&gt;">
            <a:extLst>
              <a:ext uri="{FF2B5EF4-FFF2-40B4-BE49-F238E27FC236}">
                <a16:creationId xmlns:a16="http://schemas.microsoft.com/office/drawing/2014/main" id="{F3293B56-2B0F-456C-809A-87CEF4B3C6A1}"/>
              </a:ext>
            </a:extLst>
          </p:cNvPr>
          <p:cNvSpPr>
            <a:spLocks noGrp="1"/>
          </p:cNvSpPr>
          <p:nvPr/>
        </p:nvSpPr>
        <p:spPr>
          <a:xfrm>
            <a:off x="647700" y="2114550"/>
            <a:ext cx="10906125" cy="609600"/>
          </a:xfrm>
          <a:prstGeom prst="rect">
            <a:avLst/>
          </a:prstGeom>
          <a:noFill/>
          <a:ln w="0">
            <a:noFill/>
          </a:ln>
        </p:spPr>
        <p:txBody>
          <a:bodyPr wrap="none" lIns="0" tIns="0" rIns="0" bIns="0">
            <a:noAutofit/>
          </a:bodyPr>
          <a:lstStyle/>
          <a:p>
            <a:pPr>
              <a:defRPr sz="2550" b="0">
                <a:solidFill>
                  <a:srgbClr val="F5F5EE"/>
                </a:solidFill>
                <a:latin typeface="DejaVu Sans Mono"/>
                <a:ea typeface="DejaVu Sans Mono"/>
                <a:cs typeface="DejaVu Sans Mono"/>
              </a:defRPr>
            </a:pPr>
            <a:r>
              <a:rPr>
                <a:solidFill>
                  <a:srgbClr val="86DBD3"/>
                </a:solidFill>
              </a:rPr>
              <a:t>&lt;a</a:t>
            </a:r>
            <a:r>
              <a:rPr>
                <a:solidFill>
                  <a:srgbClr val="F5F5EE"/>
                </a:solidFill>
              </a:rPr>
              <a:t> </a:t>
            </a:r>
            <a:r>
              <a:rPr>
                <a:solidFill>
                  <a:srgbClr val="D3F879"/>
                </a:solidFill>
              </a:rPr>
              <a:t>href</a:t>
            </a:r>
            <a:r>
              <a:rPr>
                <a:solidFill>
                  <a:srgbClr val="F5F5EE"/>
                </a:solidFill>
              </a:rPr>
              <a:t>=</a:t>
            </a:r>
            <a:r>
              <a:rPr>
                <a:solidFill>
                  <a:srgbClr val="F0C5A6"/>
                </a:solidFill>
              </a:rPr>
              <a:t>"https://alatoo.edu.kg/"</a:t>
            </a:r>
            <a:r>
              <a:rPr>
                <a:solidFill>
                  <a:srgbClr val="86DBD3"/>
                </a:solidFill>
              </a:rPr>
              <a:t>&gt;</a:t>
            </a:r>
          </a:p>
        </p:txBody>
      </p:sp>
      <p:sp>
        <p:nvSpPr>
          <p:cNvPr id="5" name="  Visit Ala-Too">
            <a:extLst>
              <a:ext uri="{FF2B5EF4-FFF2-40B4-BE49-F238E27FC236}">
                <a16:creationId xmlns:a16="http://schemas.microsoft.com/office/drawing/2014/main" id="{0D255FE6-4CA2-4332-8BCB-6A40CC11FCD4}"/>
              </a:ext>
            </a:extLst>
          </p:cNvPr>
          <p:cNvSpPr>
            <a:spLocks noGrp="1"/>
          </p:cNvSpPr>
          <p:nvPr/>
        </p:nvSpPr>
        <p:spPr>
          <a:xfrm>
            <a:off x="647700" y="2695575"/>
            <a:ext cx="10906125" cy="609600"/>
          </a:xfrm>
          <a:prstGeom prst="rect">
            <a:avLst/>
          </a:prstGeom>
          <a:noFill/>
          <a:ln w="0">
            <a:noFill/>
          </a:ln>
        </p:spPr>
        <p:txBody>
          <a:bodyPr wrap="none" lIns="0" tIns="0" rIns="0" bIns="0">
            <a:noAutofit/>
          </a:bodyPr>
          <a:lstStyle/>
          <a:p>
            <a:pPr>
              <a:defRPr sz="2550" b="0">
                <a:solidFill>
                  <a:srgbClr val="F5F5EE"/>
                </a:solidFill>
                <a:latin typeface="DejaVu Sans Mono"/>
                <a:ea typeface="DejaVu Sans Mono"/>
                <a:cs typeface="DejaVu Sans Mono"/>
              </a:defRPr>
            </a:pPr>
            <a:r>
              <a:rPr>
                <a:solidFill>
                  <a:srgbClr val="F5F5EE"/>
                </a:solidFill>
              </a:rPr>
              <a:t>  Visit Ala-Too</a:t>
            </a:r>
          </a:p>
        </p:txBody>
      </p:sp>
      <p:sp>
        <p:nvSpPr>
          <p:cNvPr id="6" name="&lt;/a&gt;">
            <a:extLst>
              <a:ext uri="{FF2B5EF4-FFF2-40B4-BE49-F238E27FC236}">
                <a16:creationId xmlns:a16="http://schemas.microsoft.com/office/drawing/2014/main" id="{2B6F1143-A73F-4155-B9BB-991BAF51F21D}"/>
              </a:ext>
            </a:extLst>
          </p:cNvPr>
          <p:cNvSpPr>
            <a:spLocks noGrp="1"/>
          </p:cNvSpPr>
          <p:nvPr/>
        </p:nvSpPr>
        <p:spPr>
          <a:xfrm>
            <a:off x="647700" y="3276600"/>
            <a:ext cx="10906125" cy="609600"/>
          </a:xfrm>
          <a:prstGeom prst="rect">
            <a:avLst/>
          </a:prstGeom>
          <a:noFill/>
          <a:ln w="0">
            <a:noFill/>
          </a:ln>
        </p:spPr>
        <p:txBody>
          <a:bodyPr wrap="none" lIns="0" tIns="0" rIns="0" bIns="0">
            <a:noAutofit/>
          </a:bodyPr>
          <a:lstStyle/>
          <a:p>
            <a:pPr>
              <a:defRPr sz="2550" b="0">
                <a:solidFill>
                  <a:srgbClr val="F5F5EE"/>
                </a:solidFill>
                <a:latin typeface="DejaVu Sans Mono"/>
                <a:ea typeface="DejaVu Sans Mono"/>
                <a:cs typeface="DejaVu Sans Mono"/>
              </a:defRPr>
            </a:pPr>
            <a:r>
              <a:rPr>
                <a:solidFill>
                  <a:srgbClr val="86DBD3"/>
                </a:solidFill>
              </a:rPr>
              <a:t>&lt;/a&gt;</a:t>
            </a:r>
          </a:p>
        </p:txBody>
      </p:sp>
      <p:sp>
        <p:nvSpPr>
          <p:cNvPr id="7" name="href">
            <a:extLst>
              <a:ext uri="{FF2B5EF4-FFF2-40B4-BE49-F238E27FC236}">
                <a16:creationId xmlns:a16="http://schemas.microsoft.com/office/drawing/2014/main" id="{AA091765-123C-45C6-9CB7-354A1203BA5C}"/>
              </a:ext>
            </a:extLst>
          </p:cNvPr>
          <p:cNvSpPr>
            <a:spLocks noGrp="1"/>
          </p:cNvSpPr>
          <p:nvPr/>
        </p:nvSpPr>
        <p:spPr>
          <a:xfrm>
            <a:off x="657225" y="4419600"/>
            <a:ext cx="5238750" cy="501015"/>
          </a:xfrm>
          <a:prstGeom prst="rect">
            <a:avLst/>
          </a:prstGeom>
          <a:noFill/>
          <a:ln w="0">
            <a:noFill/>
          </a:ln>
        </p:spPr>
        <p:txBody>
          <a:bodyPr wrap="none" lIns="0" tIns="0" rIns="0" bIns="0">
            <a:noAutofit/>
          </a:bodyPr>
          <a:lstStyle/>
          <a:p>
            <a:pPr>
              <a:defRPr sz="2700" b="1">
                <a:solidFill>
                  <a:srgbClr val="D3F879"/>
                </a:solidFill>
                <a:latin typeface="DejaVu Sans"/>
                <a:ea typeface="DejaVu Sans"/>
                <a:cs typeface="DejaVu Sans"/>
              </a:defRPr>
            </a:pPr>
            <a:r>
              <a:rPr sz="2700" b="1">
                <a:solidFill>
                  <a:srgbClr val="D3F879"/>
                </a:solidFill>
                <a:latin typeface="DejaVu Sans"/>
                <a:ea typeface="DejaVu Sans"/>
                <a:cs typeface="DejaVu Sans"/>
              </a:rPr>
              <a:t>href</a:t>
            </a:r>
          </a:p>
        </p:txBody>
      </p:sp>
      <p:sp>
        <p:nvSpPr>
          <p:cNvPr id="8" name="Имя атрибута: адрес ссылки">
            <a:extLst>
              <a:ext uri="{FF2B5EF4-FFF2-40B4-BE49-F238E27FC236}">
                <a16:creationId xmlns:a16="http://schemas.microsoft.com/office/drawing/2014/main" id="{239E962C-B104-4CB9-BD1E-BB5F3CD02D59}"/>
              </a:ext>
            </a:extLst>
          </p:cNvPr>
          <p:cNvSpPr>
            <a:spLocks noGrp="1"/>
          </p:cNvSpPr>
          <p:nvPr/>
        </p:nvSpPr>
        <p:spPr>
          <a:xfrm>
            <a:off x="657225" y="5006340"/>
            <a:ext cx="523875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Имя атрибута: адрес ссылки</a:t>
            </a:r>
          </a:p>
        </p:txBody>
      </p:sp>
      <p:sp>
        <p:nvSpPr>
          <p:cNvPr id="9" name="&quot;https://alatoo.edu.kg/&quot;">
            <a:extLst>
              <a:ext uri="{FF2B5EF4-FFF2-40B4-BE49-F238E27FC236}">
                <a16:creationId xmlns:a16="http://schemas.microsoft.com/office/drawing/2014/main" id="{C3432516-6AD1-4809-AC45-413A4F2EFE0E}"/>
              </a:ext>
            </a:extLst>
          </p:cNvPr>
          <p:cNvSpPr>
            <a:spLocks noGrp="1"/>
          </p:cNvSpPr>
          <p:nvPr/>
        </p:nvSpPr>
        <p:spPr>
          <a:xfrm>
            <a:off x="6162675" y="4419600"/>
            <a:ext cx="5362575" cy="398145"/>
          </a:xfrm>
          <a:prstGeom prst="rect">
            <a:avLst/>
          </a:prstGeom>
          <a:noFill/>
          <a:ln w="0">
            <a:noFill/>
          </a:ln>
        </p:spPr>
        <p:txBody>
          <a:bodyPr wrap="none" lIns="0" tIns="0" rIns="0" bIns="0">
            <a:noAutofit/>
          </a:bodyPr>
          <a:lstStyle/>
          <a:p>
            <a:pPr>
              <a:defRPr sz="2100" b="1">
                <a:solidFill>
                  <a:srgbClr val="F0C5A6"/>
                </a:solidFill>
                <a:latin typeface="DejaVu Sans"/>
                <a:ea typeface="DejaVu Sans"/>
                <a:cs typeface="DejaVu Sans"/>
              </a:defRPr>
            </a:pPr>
            <a:r>
              <a:rPr sz="2100" b="1">
                <a:solidFill>
                  <a:srgbClr val="F0C5A6"/>
                </a:solidFill>
                <a:latin typeface="DejaVu Sans"/>
                <a:ea typeface="DejaVu Sans"/>
                <a:cs typeface="DejaVu Sans"/>
              </a:rPr>
              <a:t>"https://alatoo.edu.kg/"</a:t>
            </a:r>
          </a:p>
        </p:txBody>
      </p:sp>
      <p:sp>
        <p:nvSpPr>
          <p:cNvPr id="10" name="Значение атрибута в кавычках">
            <a:extLst>
              <a:ext uri="{FF2B5EF4-FFF2-40B4-BE49-F238E27FC236}">
                <a16:creationId xmlns:a16="http://schemas.microsoft.com/office/drawing/2014/main" id="{A02CD181-8237-4475-A3BE-098800B08B8C}"/>
              </a:ext>
            </a:extLst>
          </p:cNvPr>
          <p:cNvSpPr>
            <a:spLocks noGrp="1"/>
          </p:cNvSpPr>
          <p:nvPr/>
        </p:nvSpPr>
        <p:spPr>
          <a:xfrm>
            <a:off x="6162675" y="4903470"/>
            <a:ext cx="5362575"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Значение атрибута в кавычках</a:t>
            </a:r>
          </a:p>
        </p:txBody>
      </p:sp>
      <p:sp>
        <p:nvSpPr>
          <p:cNvPr id="11" name="Attributes belong in the opening tag.">
            <a:extLst>
              <a:ext uri="{FF2B5EF4-FFF2-40B4-BE49-F238E27FC236}">
                <a16:creationId xmlns:a16="http://schemas.microsoft.com/office/drawing/2014/main" id="{6AF7ECE4-8D65-48E0-9B96-4735836886B1}"/>
              </a:ext>
            </a:extLst>
          </p:cNvPr>
          <p:cNvSpPr>
            <a:spLocks noGrp="1"/>
          </p:cNvSpPr>
          <p:nvPr/>
        </p:nvSpPr>
        <p:spPr>
          <a:xfrm>
            <a:off x="628650" y="5857875"/>
            <a:ext cx="10839450" cy="381000"/>
          </a:xfrm>
          <a:prstGeom prst="rect">
            <a:avLst/>
          </a:prstGeom>
          <a:noFill/>
          <a:ln w="0">
            <a:noFill/>
          </a:ln>
        </p:spPr>
        <p:txBody>
          <a:bodyPr wrap="none" lIns="0" tIns="0" rIns="0" bIns="0">
            <a:noAutofit/>
          </a:bodyPr>
          <a:lstStyle/>
          <a:p>
            <a:pPr>
              <a:defRPr sz="1875" b="1">
                <a:solidFill>
                  <a:srgbClr val="F5F5EE"/>
                </a:solidFill>
                <a:latin typeface="DejaVu Sans"/>
                <a:ea typeface="DejaVu Sans"/>
                <a:cs typeface="DejaVu Sans"/>
              </a:defRPr>
            </a:pPr>
            <a:r>
              <a:rPr sz="1875" b="1">
                <a:solidFill>
                  <a:srgbClr val="F5F5EE"/>
                </a:solidFill>
                <a:latin typeface="DejaVu Sans"/>
                <a:ea typeface="DejaVu Sans"/>
                <a:cs typeface="DejaVu Sans"/>
              </a:rPr>
              <a:t>Attributes belong in the opening tag.</a:t>
            </a:r>
          </a:p>
        </p:txBody>
      </p:sp>
    </p:spTree>
    <p:extLst>
      <p:ext uri="{BB962C8B-B14F-4D97-AF65-F5344CB8AC3E}">
        <p14:creationId xmlns:p14="http://schemas.microsoft.com/office/powerpoint/2010/main" val="685458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21" name="The HTML document">
            <a:extLst>
              <a:ext uri="{FF2B5EF4-FFF2-40B4-BE49-F238E27FC236}">
                <a16:creationId xmlns:a16="http://schemas.microsoft.com/office/drawing/2014/main" id="{D57D95CE-AB4E-4641-9EB8-CCE1F00A14EE}"/>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The HTML document</a:t>
            </a:r>
          </a:p>
        </p:txBody>
      </p:sp>
      <p:sp>
        <p:nvSpPr>
          <p:cNvPr id="2" name="Каркас страницы: служебные сведения и видимое содержимое">
            <a:extLst>
              <a:ext uri="{FF2B5EF4-FFF2-40B4-BE49-F238E27FC236}">
                <a16:creationId xmlns:a16="http://schemas.microsoft.com/office/drawing/2014/main" id="{F737BFCC-3B70-4002-866A-809FA132A5F3}"/>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Каркас страницы: служебные сведения и видимое содержимое</a:t>
            </a:r>
          </a:p>
        </p:txBody>
      </p:sp>
      <p:sp>
        <p:nvSpPr>
          <p:cNvPr id="3" name="09">
            <a:extLst>
              <a:ext uri="{FF2B5EF4-FFF2-40B4-BE49-F238E27FC236}">
                <a16:creationId xmlns:a16="http://schemas.microsoft.com/office/drawing/2014/main" id="{D47E86F8-1A05-4AB7-B8F0-B933C0FA0B60}"/>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09</a:t>
            </a:r>
          </a:p>
        </p:txBody>
      </p:sp>
      <p:sp>
        <p:nvSpPr>
          <p:cNvPr id="4" name="&lt;!DOCTYPE html&gt;">
            <a:extLst>
              <a:ext uri="{FF2B5EF4-FFF2-40B4-BE49-F238E27FC236}">
                <a16:creationId xmlns:a16="http://schemas.microsoft.com/office/drawing/2014/main" id="{62CC0C27-88ED-49C8-AA02-5B7BD43624E6}"/>
              </a:ext>
            </a:extLst>
          </p:cNvPr>
          <p:cNvSpPr>
            <a:spLocks noGrp="1"/>
          </p:cNvSpPr>
          <p:nvPr/>
        </p:nvSpPr>
        <p:spPr>
          <a:xfrm>
            <a:off x="628650" y="2028825"/>
            <a:ext cx="6762750" cy="3619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86DBD3"/>
                </a:solidFill>
              </a:rPr>
              <a:t>&lt;!DOCTYPE html&gt;</a:t>
            </a:r>
          </a:p>
        </p:txBody>
      </p:sp>
      <p:sp>
        <p:nvSpPr>
          <p:cNvPr id="5" name="&lt;html lang=&quot;en&quot;&gt;">
            <a:extLst>
              <a:ext uri="{FF2B5EF4-FFF2-40B4-BE49-F238E27FC236}">
                <a16:creationId xmlns:a16="http://schemas.microsoft.com/office/drawing/2014/main" id="{ED778369-8AC0-4327-892E-F6D44477B4C6}"/>
              </a:ext>
            </a:extLst>
          </p:cNvPr>
          <p:cNvSpPr>
            <a:spLocks noGrp="1"/>
          </p:cNvSpPr>
          <p:nvPr/>
        </p:nvSpPr>
        <p:spPr>
          <a:xfrm>
            <a:off x="628650" y="2362200"/>
            <a:ext cx="6762750" cy="3619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86DBD3"/>
                </a:solidFill>
              </a:rPr>
              <a:t>&lt;html</a:t>
            </a:r>
            <a:r>
              <a:rPr>
                <a:solidFill>
                  <a:srgbClr val="F5F5EE"/>
                </a:solidFill>
              </a:rPr>
              <a:t> </a:t>
            </a:r>
            <a:r>
              <a:rPr>
                <a:solidFill>
                  <a:srgbClr val="D3F879"/>
                </a:solidFill>
              </a:rPr>
              <a:t>lang</a:t>
            </a:r>
            <a:r>
              <a:rPr>
                <a:solidFill>
                  <a:srgbClr val="F5F5EE"/>
                </a:solidFill>
              </a:rPr>
              <a:t>=</a:t>
            </a:r>
            <a:r>
              <a:rPr>
                <a:solidFill>
                  <a:srgbClr val="F0C5A6"/>
                </a:solidFill>
              </a:rPr>
              <a:t>"en"</a:t>
            </a:r>
            <a:r>
              <a:rPr>
                <a:solidFill>
                  <a:srgbClr val="86DBD3"/>
                </a:solidFill>
              </a:rPr>
              <a:t>&gt;</a:t>
            </a:r>
          </a:p>
        </p:txBody>
      </p:sp>
      <p:sp>
        <p:nvSpPr>
          <p:cNvPr id="6" name="  &lt;head&gt;">
            <a:extLst>
              <a:ext uri="{FF2B5EF4-FFF2-40B4-BE49-F238E27FC236}">
                <a16:creationId xmlns:a16="http://schemas.microsoft.com/office/drawing/2014/main" id="{D6636182-949A-48A6-BC17-262C69BC0FCF}"/>
              </a:ext>
            </a:extLst>
          </p:cNvPr>
          <p:cNvSpPr>
            <a:spLocks noGrp="1"/>
          </p:cNvSpPr>
          <p:nvPr/>
        </p:nvSpPr>
        <p:spPr>
          <a:xfrm>
            <a:off x="628650" y="2695575"/>
            <a:ext cx="6762750" cy="3619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F5F5EE"/>
                </a:solidFill>
              </a:rPr>
              <a:t>  </a:t>
            </a:r>
            <a:r>
              <a:rPr>
                <a:solidFill>
                  <a:srgbClr val="86DBD3"/>
                </a:solidFill>
              </a:rPr>
              <a:t>&lt;head&gt;</a:t>
            </a:r>
          </a:p>
        </p:txBody>
      </p:sp>
      <p:sp>
        <p:nvSpPr>
          <p:cNvPr id="7" name="    &lt;meta charset=&quot;UTF-8&quot;&gt;">
            <a:extLst>
              <a:ext uri="{FF2B5EF4-FFF2-40B4-BE49-F238E27FC236}">
                <a16:creationId xmlns:a16="http://schemas.microsoft.com/office/drawing/2014/main" id="{8A3401AA-69E2-4705-B4D9-9DA7DF1C9116}"/>
              </a:ext>
            </a:extLst>
          </p:cNvPr>
          <p:cNvSpPr>
            <a:spLocks noGrp="1"/>
          </p:cNvSpPr>
          <p:nvPr/>
        </p:nvSpPr>
        <p:spPr>
          <a:xfrm>
            <a:off x="628650" y="3028950"/>
            <a:ext cx="6762750" cy="3619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F5F5EE"/>
                </a:solidFill>
              </a:rPr>
              <a:t>    </a:t>
            </a:r>
            <a:r>
              <a:rPr>
                <a:solidFill>
                  <a:srgbClr val="86DBD3"/>
                </a:solidFill>
              </a:rPr>
              <a:t>&lt;meta</a:t>
            </a:r>
            <a:r>
              <a:rPr>
                <a:solidFill>
                  <a:srgbClr val="F5F5EE"/>
                </a:solidFill>
              </a:rPr>
              <a:t> </a:t>
            </a:r>
            <a:r>
              <a:rPr>
                <a:solidFill>
                  <a:srgbClr val="D3F879"/>
                </a:solidFill>
              </a:rPr>
              <a:t>charset</a:t>
            </a:r>
            <a:r>
              <a:rPr>
                <a:solidFill>
                  <a:srgbClr val="F5F5EE"/>
                </a:solidFill>
              </a:rPr>
              <a:t>=</a:t>
            </a:r>
            <a:r>
              <a:rPr>
                <a:solidFill>
                  <a:srgbClr val="F0C5A6"/>
                </a:solidFill>
              </a:rPr>
              <a:t>"UTF-8"</a:t>
            </a:r>
            <a:r>
              <a:rPr>
                <a:solidFill>
                  <a:srgbClr val="86DBD3"/>
                </a:solidFill>
              </a:rPr>
              <a:t>&gt;</a:t>
            </a:r>
          </a:p>
        </p:txBody>
      </p:sp>
      <p:sp>
        <p:nvSpPr>
          <p:cNvPr id="8" name="    &lt;title&gt;Ala-Too&lt;/title&gt;">
            <a:extLst>
              <a:ext uri="{FF2B5EF4-FFF2-40B4-BE49-F238E27FC236}">
                <a16:creationId xmlns:a16="http://schemas.microsoft.com/office/drawing/2014/main" id="{7389DFAA-B14F-4923-975A-97014CE7BC8B}"/>
              </a:ext>
            </a:extLst>
          </p:cNvPr>
          <p:cNvSpPr>
            <a:spLocks noGrp="1"/>
          </p:cNvSpPr>
          <p:nvPr/>
        </p:nvSpPr>
        <p:spPr>
          <a:xfrm>
            <a:off x="628650" y="3362325"/>
            <a:ext cx="6762750" cy="3619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F5F5EE"/>
                </a:solidFill>
              </a:rPr>
              <a:t>    </a:t>
            </a:r>
            <a:r>
              <a:rPr>
                <a:solidFill>
                  <a:srgbClr val="86DBD3"/>
                </a:solidFill>
              </a:rPr>
              <a:t>&lt;title&gt;</a:t>
            </a:r>
            <a:r>
              <a:rPr>
                <a:solidFill>
                  <a:srgbClr val="F5F5EE"/>
                </a:solidFill>
              </a:rPr>
              <a:t>Ala-Too</a:t>
            </a:r>
            <a:r>
              <a:rPr>
                <a:solidFill>
                  <a:srgbClr val="86DBD3"/>
                </a:solidFill>
              </a:rPr>
              <a:t>&lt;/title&gt;</a:t>
            </a:r>
          </a:p>
        </p:txBody>
      </p:sp>
      <p:sp>
        <p:nvSpPr>
          <p:cNvPr id="9" name="  &lt;/head&gt;">
            <a:extLst>
              <a:ext uri="{FF2B5EF4-FFF2-40B4-BE49-F238E27FC236}">
                <a16:creationId xmlns:a16="http://schemas.microsoft.com/office/drawing/2014/main" id="{706307AE-8304-4F65-BEF6-451BC842CEF5}"/>
              </a:ext>
            </a:extLst>
          </p:cNvPr>
          <p:cNvSpPr>
            <a:spLocks noGrp="1"/>
          </p:cNvSpPr>
          <p:nvPr/>
        </p:nvSpPr>
        <p:spPr>
          <a:xfrm>
            <a:off x="628650" y="3695700"/>
            <a:ext cx="6762750" cy="3619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F5F5EE"/>
                </a:solidFill>
              </a:rPr>
              <a:t>  </a:t>
            </a:r>
            <a:r>
              <a:rPr>
                <a:solidFill>
                  <a:srgbClr val="86DBD3"/>
                </a:solidFill>
              </a:rPr>
              <a:t>&lt;/head&gt;</a:t>
            </a:r>
          </a:p>
        </p:txBody>
      </p:sp>
      <p:sp>
        <p:nvSpPr>
          <p:cNvPr id="10" name="  &lt;body&gt;">
            <a:extLst>
              <a:ext uri="{FF2B5EF4-FFF2-40B4-BE49-F238E27FC236}">
                <a16:creationId xmlns:a16="http://schemas.microsoft.com/office/drawing/2014/main" id="{B67CCBE2-5A71-4725-922E-EA9F935EFD6B}"/>
              </a:ext>
            </a:extLst>
          </p:cNvPr>
          <p:cNvSpPr>
            <a:spLocks noGrp="1"/>
          </p:cNvSpPr>
          <p:nvPr/>
        </p:nvSpPr>
        <p:spPr>
          <a:xfrm>
            <a:off x="628650" y="4029075"/>
            <a:ext cx="6762750" cy="3619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F5F5EE"/>
                </a:solidFill>
              </a:rPr>
              <a:t>  </a:t>
            </a:r>
            <a:r>
              <a:rPr>
                <a:solidFill>
                  <a:srgbClr val="86DBD3"/>
                </a:solidFill>
              </a:rPr>
              <a:t>&lt;body&gt;</a:t>
            </a:r>
          </a:p>
        </p:txBody>
      </p:sp>
      <p:sp>
        <p:nvSpPr>
          <p:cNvPr id="11" name="    &lt;h1&gt;Ala-Too University&lt;/h1&gt;">
            <a:extLst>
              <a:ext uri="{FF2B5EF4-FFF2-40B4-BE49-F238E27FC236}">
                <a16:creationId xmlns:a16="http://schemas.microsoft.com/office/drawing/2014/main" id="{36623AC1-D9C9-4CB1-BC65-39F6CD0C0A06}"/>
              </a:ext>
            </a:extLst>
          </p:cNvPr>
          <p:cNvSpPr>
            <a:spLocks noGrp="1"/>
          </p:cNvSpPr>
          <p:nvPr/>
        </p:nvSpPr>
        <p:spPr>
          <a:xfrm>
            <a:off x="628650" y="4362450"/>
            <a:ext cx="6762750" cy="3619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F5F5EE"/>
                </a:solidFill>
              </a:rPr>
              <a:t>    </a:t>
            </a:r>
            <a:r>
              <a:rPr>
                <a:solidFill>
                  <a:srgbClr val="86DBD3"/>
                </a:solidFill>
              </a:rPr>
              <a:t>&lt;h1&gt;</a:t>
            </a:r>
            <a:r>
              <a:rPr>
                <a:solidFill>
                  <a:srgbClr val="F5F5EE"/>
                </a:solidFill>
              </a:rPr>
              <a:t>Ala-Too University</a:t>
            </a:r>
            <a:r>
              <a:rPr>
                <a:solidFill>
                  <a:srgbClr val="86DBD3"/>
                </a:solidFill>
              </a:rPr>
              <a:t>&lt;/h1&gt;</a:t>
            </a:r>
          </a:p>
        </p:txBody>
      </p:sp>
      <p:sp>
        <p:nvSpPr>
          <p:cNvPr id="12" name="    &lt;p&gt;Our student page.&lt;/p&gt;">
            <a:extLst>
              <a:ext uri="{FF2B5EF4-FFF2-40B4-BE49-F238E27FC236}">
                <a16:creationId xmlns:a16="http://schemas.microsoft.com/office/drawing/2014/main" id="{C3226D46-0633-4641-BA4A-15A840F3F0E1}"/>
              </a:ext>
            </a:extLst>
          </p:cNvPr>
          <p:cNvSpPr>
            <a:spLocks noGrp="1"/>
          </p:cNvSpPr>
          <p:nvPr/>
        </p:nvSpPr>
        <p:spPr>
          <a:xfrm>
            <a:off x="628650" y="4695825"/>
            <a:ext cx="6762750" cy="3619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F5F5EE"/>
                </a:solidFill>
              </a:rPr>
              <a:t>    </a:t>
            </a:r>
            <a:r>
              <a:rPr>
                <a:solidFill>
                  <a:srgbClr val="86DBD3"/>
                </a:solidFill>
              </a:rPr>
              <a:t>&lt;p&gt;</a:t>
            </a:r>
            <a:r>
              <a:rPr>
                <a:solidFill>
                  <a:srgbClr val="F5F5EE"/>
                </a:solidFill>
              </a:rPr>
              <a:t>Our student page.</a:t>
            </a:r>
            <a:r>
              <a:rPr>
                <a:solidFill>
                  <a:srgbClr val="86DBD3"/>
                </a:solidFill>
              </a:rPr>
              <a:t>&lt;/p&gt;</a:t>
            </a:r>
          </a:p>
        </p:txBody>
      </p:sp>
      <p:sp>
        <p:nvSpPr>
          <p:cNvPr id="13" name="  &lt;/body&gt;">
            <a:extLst>
              <a:ext uri="{FF2B5EF4-FFF2-40B4-BE49-F238E27FC236}">
                <a16:creationId xmlns:a16="http://schemas.microsoft.com/office/drawing/2014/main" id="{B6671196-9422-4FA8-8E8D-895DFEE988F6}"/>
              </a:ext>
            </a:extLst>
          </p:cNvPr>
          <p:cNvSpPr>
            <a:spLocks noGrp="1"/>
          </p:cNvSpPr>
          <p:nvPr/>
        </p:nvSpPr>
        <p:spPr>
          <a:xfrm>
            <a:off x="628650" y="5029200"/>
            <a:ext cx="6762750" cy="3619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F5F5EE"/>
                </a:solidFill>
              </a:rPr>
              <a:t>  </a:t>
            </a:r>
            <a:r>
              <a:rPr>
                <a:solidFill>
                  <a:srgbClr val="86DBD3"/>
                </a:solidFill>
              </a:rPr>
              <a:t>&lt;/body&gt;</a:t>
            </a:r>
          </a:p>
        </p:txBody>
      </p:sp>
      <p:sp>
        <p:nvSpPr>
          <p:cNvPr id="14" name="&lt;/html&gt;">
            <a:extLst>
              <a:ext uri="{FF2B5EF4-FFF2-40B4-BE49-F238E27FC236}">
                <a16:creationId xmlns:a16="http://schemas.microsoft.com/office/drawing/2014/main" id="{1EA975F7-4C71-4462-9185-CC04CB4FE59A}"/>
              </a:ext>
            </a:extLst>
          </p:cNvPr>
          <p:cNvSpPr>
            <a:spLocks noGrp="1"/>
          </p:cNvSpPr>
          <p:nvPr/>
        </p:nvSpPr>
        <p:spPr>
          <a:xfrm>
            <a:off x="628650" y="5362575"/>
            <a:ext cx="6762750" cy="3619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86DBD3"/>
                </a:solidFill>
              </a:rPr>
              <a:t>&lt;/html&gt;</a:t>
            </a:r>
          </a:p>
        </p:txBody>
      </p:sp>
      <p:sp>
        <p:nvSpPr>
          <p:cNvPr id="15" name="&lt;!DOCTYPE html&gt;">
            <a:extLst>
              <a:ext uri="{FF2B5EF4-FFF2-40B4-BE49-F238E27FC236}">
                <a16:creationId xmlns:a16="http://schemas.microsoft.com/office/drawing/2014/main" id="{7C1DBC59-8FF7-4E81-B7E9-81D9DB56B1B0}"/>
              </a:ext>
            </a:extLst>
          </p:cNvPr>
          <p:cNvSpPr>
            <a:spLocks noGrp="1"/>
          </p:cNvSpPr>
          <p:nvPr/>
        </p:nvSpPr>
        <p:spPr>
          <a:xfrm>
            <a:off x="8239125" y="2114550"/>
            <a:ext cx="3333750" cy="398145"/>
          </a:xfrm>
          <a:prstGeom prst="rect">
            <a:avLst/>
          </a:prstGeom>
          <a:noFill/>
          <a:ln w="0">
            <a:noFill/>
          </a:ln>
        </p:spPr>
        <p:txBody>
          <a:bodyPr wrap="none" lIns="0" tIns="0" rIns="0" bIns="0">
            <a:noAutofit/>
          </a:bodyPr>
          <a:lstStyle/>
          <a:p>
            <a:pPr>
              <a:defRPr sz="2100" b="1">
                <a:solidFill>
                  <a:srgbClr val="86DBD3"/>
                </a:solidFill>
                <a:latin typeface="DejaVu Sans"/>
                <a:ea typeface="DejaVu Sans"/>
                <a:cs typeface="DejaVu Sans"/>
              </a:defRPr>
            </a:pPr>
            <a:r>
              <a:rPr sz="2100" b="1">
                <a:solidFill>
                  <a:srgbClr val="86DBD3"/>
                </a:solidFill>
                <a:latin typeface="DejaVu Sans"/>
                <a:ea typeface="DejaVu Sans"/>
                <a:cs typeface="DejaVu Sans"/>
              </a:rPr>
              <a:t>&lt;!DOCTYPE html&gt;</a:t>
            </a:r>
          </a:p>
        </p:txBody>
      </p:sp>
      <p:sp>
        <p:nvSpPr>
          <p:cNvPr id="16" name="Современный режим HTML">
            <a:extLst>
              <a:ext uri="{FF2B5EF4-FFF2-40B4-BE49-F238E27FC236}">
                <a16:creationId xmlns:a16="http://schemas.microsoft.com/office/drawing/2014/main" id="{C50FB5D8-5826-402D-8165-AD9C87F7A455}"/>
              </a:ext>
            </a:extLst>
          </p:cNvPr>
          <p:cNvSpPr>
            <a:spLocks noGrp="1"/>
          </p:cNvSpPr>
          <p:nvPr/>
        </p:nvSpPr>
        <p:spPr>
          <a:xfrm>
            <a:off x="8239125" y="2598420"/>
            <a:ext cx="333375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Современный режим HTML</a:t>
            </a:r>
          </a:p>
        </p:txBody>
      </p:sp>
      <p:sp>
        <p:nvSpPr>
          <p:cNvPr id="17" name="&lt;head&gt;">
            <a:extLst>
              <a:ext uri="{FF2B5EF4-FFF2-40B4-BE49-F238E27FC236}">
                <a16:creationId xmlns:a16="http://schemas.microsoft.com/office/drawing/2014/main" id="{CB9E54BF-0A0C-4ACD-A980-BF802C64CE62}"/>
              </a:ext>
            </a:extLst>
          </p:cNvPr>
          <p:cNvSpPr>
            <a:spLocks noGrp="1"/>
          </p:cNvSpPr>
          <p:nvPr/>
        </p:nvSpPr>
        <p:spPr>
          <a:xfrm>
            <a:off x="8239125" y="3429000"/>
            <a:ext cx="3333750" cy="423863"/>
          </a:xfrm>
          <a:prstGeom prst="rect">
            <a:avLst/>
          </a:prstGeom>
          <a:noFill/>
          <a:ln w="0">
            <a:noFill/>
          </a:ln>
        </p:spPr>
        <p:txBody>
          <a:bodyPr wrap="none" lIns="0" tIns="0" rIns="0" bIns="0">
            <a:noAutofit/>
          </a:bodyPr>
          <a:lstStyle/>
          <a:p>
            <a:pPr>
              <a:defRPr sz="2250" b="1">
                <a:solidFill>
                  <a:srgbClr val="D3F879"/>
                </a:solidFill>
                <a:latin typeface="DejaVu Sans"/>
                <a:ea typeface="DejaVu Sans"/>
                <a:cs typeface="DejaVu Sans"/>
              </a:defRPr>
            </a:pPr>
            <a:r>
              <a:rPr sz="2250" b="1">
                <a:solidFill>
                  <a:srgbClr val="D3F879"/>
                </a:solidFill>
                <a:latin typeface="DejaVu Sans"/>
                <a:ea typeface="DejaVu Sans"/>
                <a:cs typeface="DejaVu Sans"/>
              </a:rPr>
              <a:t>&lt;head&gt;</a:t>
            </a:r>
          </a:p>
        </p:txBody>
      </p:sp>
      <p:sp>
        <p:nvSpPr>
          <p:cNvPr id="18" name="Название вкладки и метаданные">
            <a:extLst>
              <a:ext uri="{FF2B5EF4-FFF2-40B4-BE49-F238E27FC236}">
                <a16:creationId xmlns:a16="http://schemas.microsoft.com/office/drawing/2014/main" id="{8BC6064E-DED4-48DB-B8A7-1A8E4C37F263}"/>
              </a:ext>
            </a:extLst>
          </p:cNvPr>
          <p:cNvSpPr>
            <a:spLocks noGrp="1"/>
          </p:cNvSpPr>
          <p:nvPr/>
        </p:nvSpPr>
        <p:spPr>
          <a:xfrm>
            <a:off x="8239125" y="3938588"/>
            <a:ext cx="333375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Название вкладки и метаданные</a:t>
            </a:r>
          </a:p>
        </p:txBody>
      </p:sp>
      <p:sp>
        <p:nvSpPr>
          <p:cNvPr id="19" name="&lt;body&gt;">
            <a:extLst>
              <a:ext uri="{FF2B5EF4-FFF2-40B4-BE49-F238E27FC236}">
                <a16:creationId xmlns:a16="http://schemas.microsoft.com/office/drawing/2014/main" id="{F97712FF-0DCF-4217-9435-74FD22FB0010}"/>
              </a:ext>
            </a:extLst>
          </p:cNvPr>
          <p:cNvSpPr>
            <a:spLocks noGrp="1"/>
          </p:cNvSpPr>
          <p:nvPr/>
        </p:nvSpPr>
        <p:spPr>
          <a:xfrm>
            <a:off x="8239125" y="4810125"/>
            <a:ext cx="3333750" cy="423863"/>
          </a:xfrm>
          <a:prstGeom prst="rect">
            <a:avLst/>
          </a:prstGeom>
          <a:noFill/>
          <a:ln w="0">
            <a:noFill/>
          </a:ln>
        </p:spPr>
        <p:txBody>
          <a:bodyPr wrap="none" lIns="0" tIns="0" rIns="0" bIns="0">
            <a:noAutofit/>
          </a:bodyPr>
          <a:lstStyle/>
          <a:p>
            <a:pPr>
              <a:defRPr sz="2250" b="1">
                <a:solidFill>
                  <a:srgbClr val="F0C5A6"/>
                </a:solidFill>
                <a:latin typeface="DejaVu Sans"/>
                <a:ea typeface="DejaVu Sans"/>
                <a:cs typeface="DejaVu Sans"/>
              </a:defRPr>
            </a:pPr>
            <a:r>
              <a:rPr sz="2250" b="1">
                <a:solidFill>
                  <a:srgbClr val="F0C5A6"/>
                </a:solidFill>
                <a:latin typeface="DejaVu Sans"/>
                <a:ea typeface="DejaVu Sans"/>
                <a:cs typeface="DejaVu Sans"/>
              </a:rPr>
              <a:t>&lt;body&gt;</a:t>
            </a:r>
          </a:p>
        </p:txBody>
      </p:sp>
      <p:sp>
        <p:nvSpPr>
          <p:cNvPr id="20" name="Содержимое страницы">
            <a:extLst>
              <a:ext uri="{FF2B5EF4-FFF2-40B4-BE49-F238E27FC236}">
                <a16:creationId xmlns:a16="http://schemas.microsoft.com/office/drawing/2014/main" id="{C8B26E38-7CCC-4BD0-BF91-AF22486D9941}"/>
              </a:ext>
            </a:extLst>
          </p:cNvPr>
          <p:cNvSpPr>
            <a:spLocks noGrp="1"/>
          </p:cNvSpPr>
          <p:nvPr/>
        </p:nvSpPr>
        <p:spPr>
          <a:xfrm>
            <a:off x="8239125" y="5319713"/>
            <a:ext cx="333375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Содержимое страницы</a:t>
            </a:r>
          </a:p>
        </p:txBody>
      </p:sp>
    </p:spTree>
    <p:extLst>
      <p:ext uri="{BB962C8B-B14F-4D97-AF65-F5344CB8AC3E}">
        <p14:creationId xmlns:p14="http://schemas.microsoft.com/office/powerpoint/2010/main" val="1659341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15" name="Headings and paragraphs">
            <a:extLst>
              <a:ext uri="{FF2B5EF4-FFF2-40B4-BE49-F238E27FC236}">
                <a16:creationId xmlns:a16="http://schemas.microsoft.com/office/drawing/2014/main" id="{6F36EAF0-60DB-499E-918B-C843AFD4EC32}"/>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Headings and paragraphs</a:t>
            </a:r>
          </a:p>
        </p:txBody>
      </p:sp>
      <p:sp>
        <p:nvSpPr>
          <p:cNvPr id="2" name="Заголовки обозначают уровни структуры, p обозначает абзац">
            <a:extLst>
              <a:ext uri="{FF2B5EF4-FFF2-40B4-BE49-F238E27FC236}">
                <a16:creationId xmlns:a16="http://schemas.microsoft.com/office/drawing/2014/main" id="{5AF2AEA3-0579-4DAF-A491-297CD64CBF2D}"/>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Заголовки обозначают уровни структуры, p обозначает абзац</a:t>
            </a:r>
          </a:p>
        </p:txBody>
      </p:sp>
      <p:sp>
        <p:nvSpPr>
          <p:cNvPr id="3" name="10">
            <a:extLst>
              <a:ext uri="{FF2B5EF4-FFF2-40B4-BE49-F238E27FC236}">
                <a16:creationId xmlns:a16="http://schemas.microsoft.com/office/drawing/2014/main" id="{2C3689B2-339C-4472-9C05-618A9D33CDC5}"/>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10</a:t>
            </a:r>
          </a:p>
        </p:txBody>
      </p:sp>
      <p:sp>
        <p:nvSpPr>
          <p:cNvPr id="4" name="&lt;h1&gt;Ala-Too University&lt;/h1&gt;">
            <a:extLst>
              <a:ext uri="{FF2B5EF4-FFF2-40B4-BE49-F238E27FC236}">
                <a16:creationId xmlns:a16="http://schemas.microsoft.com/office/drawing/2014/main" id="{DBE2B791-CA87-4E5E-8158-CB413079C939}"/>
              </a:ext>
            </a:extLst>
          </p:cNvPr>
          <p:cNvSpPr>
            <a:spLocks noGrp="1"/>
          </p:cNvSpPr>
          <p:nvPr/>
        </p:nvSpPr>
        <p:spPr>
          <a:xfrm>
            <a:off x="638175" y="2133600"/>
            <a:ext cx="7334250" cy="581025"/>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86DBD3"/>
                </a:solidFill>
              </a:rPr>
              <a:t>&lt;h1&gt;</a:t>
            </a:r>
            <a:r>
              <a:rPr>
                <a:solidFill>
                  <a:srgbClr val="F5F5EE"/>
                </a:solidFill>
              </a:rPr>
              <a:t>Ala-Too University</a:t>
            </a:r>
            <a:r>
              <a:rPr>
                <a:solidFill>
                  <a:srgbClr val="86DBD3"/>
                </a:solidFill>
              </a:rPr>
              <a:t>&lt;/h1&gt;</a:t>
            </a:r>
          </a:p>
        </p:txBody>
      </p:sp>
      <p:sp>
        <p:nvSpPr>
          <p:cNvPr id="5" name=" ">
            <a:extLst>
              <a:ext uri="{FF2B5EF4-FFF2-40B4-BE49-F238E27FC236}">
                <a16:creationId xmlns:a16="http://schemas.microsoft.com/office/drawing/2014/main" id="{E163B205-BC1F-4C70-A470-A50EC24621C3}"/>
              </a:ext>
            </a:extLst>
          </p:cNvPr>
          <p:cNvSpPr>
            <a:spLocks noGrp="1"/>
          </p:cNvSpPr>
          <p:nvPr/>
        </p:nvSpPr>
        <p:spPr>
          <a:xfrm>
            <a:off x="638175" y="2686050"/>
            <a:ext cx="7334250" cy="581025"/>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sz="2025" b="0">
                <a:solidFill>
                  <a:srgbClr val="F5F5EE"/>
                </a:solidFill>
                <a:latin typeface="DejaVu Sans Mono"/>
                <a:ea typeface="DejaVu Sans Mono"/>
                <a:cs typeface="DejaVu Sans Mono"/>
              </a:rPr>
              <a:t> </a:t>
            </a:r>
          </a:p>
        </p:txBody>
      </p:sp>
      <p:sp>
        <p:nvSpPr>
          <p:cNvPr id="6" name="&lt;h2&gt;Student clubs&lt;/h2&gt;">
            <a:extLst>
              <a:ext uri="{FF2B5EF4-FFF2-40B4-BE49-F238E27FC236}">
                <a16:creationId xmlns:a16="http://schemas.microsoft.com/office/drawing/2014/main" id="{3D00C131-E18C-465E-BEE9-1AD78AA2A7BD}"/>
              </a:ext>
            </a:extLst>
          </p:cNvPr>
          <p:cNvSpPr>
            <a:spLocks noGrp="1"/>
          </p:cNvSpPr>
          <p:nvPr/>
        </p:nvSpPr>
        <p:spPr>
          <a:xfrm>
            <a:off x="638175" y="3238500"/>
            <a:ext cx="7334250" cy="581025"/>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86DBD3"/>
                </a:solidFill>
              </a:rPr>
              <a:t>&lt;h2&gt;</a:t>
            </a:r>
            <a:r>
              <a:rPr>
                <a:solidFill>
                  <a:srgbClr val="F5F5EE"/>
                </a:solidFill>
              </a:rPr>
              <a:t>Student clubs</a:t>
            </a:r>
            <a:r>
              <a:rPr>
                <a:solidFill>
                  <a:srgbClr val="86DBD3"/>
                </a:solidFill>
              </a:rPr>
              <a:t>&lt;/h2&gt;</a:t>
            </a:r>
          </a:p>
        </p:txBody>
      </p:sp>
      <p:sp>
        <p:nvSpPr>
          <p:cNvPr id="7" name="&lt;h3&gt;Coding club&lt;/h3&gt;">
            <a:extLst>
              <a:ext uri="{FF2B5EF4-FFF2-40B4-BE49-F238E27FC236}">
                <a16:creationId xmlns:a16="http://schemas.microsoft.com/office/drawing/2014/main" id="{D2DE6A78-AB5A-4811-8036-601907F01A59}"/>
              </a:ext>
            </a:extLst>
          </p:cNvPr>
          <p:cNvSpPr>
            <a:spLocks noGrp="1"/>
          </p:cNvSpPr>
          <p:nvPr/>
        </p:nvSpPr>
        <p:spPr>
          <a:xfrm>
            <a:off x="638175" y="3790950"/>
            <a:ext cx="7334250" cy="581025"/>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86DBD3"/>
                </a:solidFill>
              </a:rPr>
              <a:t>&lt;h3&gt;</a:t>
            </a:r>
            <a:r>
              <a:rPr>
                <a:solidFill>
                  <a:srgbClr val="F5F5EE"/>
                </a:solidFill>
              </a:rPr>
              <a:t>Coding club</a:t>
            </a:r>
            <a:r>
              <a:rPr>
                <a:solidFill>
                  <a:srgbClr val="86DBD3"/>
                </a:solidFill>
              </a:rPr>
              <a:t>&lt;/h3&gt;</a:t>
            </a:r>
          </a:p>
        </p:txBody>
      </p:sp>
      <p:sp>
        <p:nvSpPr>
          <p:cNvPr id="8" name="&lt;p&gt;We build small web projects.&lt;/p&gt;">
            <a:extLst>
              <a:ext uri="{FF2B5EF4-FFF2-40B4-BE49-F238E27FC236}">
                <a16:creationId xmlns:a16="http://schemas.microsoft.com/office/drawing/2014/main" id="{4BB20DBF-27E9-41CD-9AB0-31CBA67E99DB}"/>
              </a:ext>
            </a:extLst>
          </p:cNvPr>
          <p:cNvSpPr>
            <a:spLocks noGrp="1"/>
          </p:cNvSpPr>
          <p:nvPr/>
        </p:nvSpPr>
        <p:spPr>
          <a:xfrm>
            <a:off x="638175" y="4343400"/>
            <a:ext cx="7334250" cy="581025"/>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86DBD3"/>
                </a:solidFill>
              </a:rPr>
              <a:t>&lt;p&gt;</a:t>
            </a:r>
            <a:r>
              <a:rPr>
                <a:solidFill>
                  <a:srgbClr val="F5F5EE"/>
                </a:solidFill>
              </a:rPr>
              <a:t>We build small web projects.</a:t>
            </a:r>
            <a:r>
              <a:rPr>
                <a:solidFill>
                  <a:srgbClr val="86DBD3"/>
                </a:solidFill>
              </a:rPr>
              <a:t>&lt;/p&gt;</a:t>
            </a:r>
          </a:p>
        </p:txBody>
      </p:sp>
      <p:sp>
        <p:nvSpPr>
          <p:cNvPr id="9" name="h1 to h6">
            <a:extLst>
              <a:ext uri="{FF2B5EF4-FFF2-40B4-BE49-F238E27FC236}">
                <a16:creationId xmlns:a16="http://schemas.microsoft.com/office/drawing/2014/main" id="{48983AE6-A297-4F5A-BCD9-5A4408EE3E6C}"/>
              </a:ext>
            </a:extLst>
          </p:cNvPr>
          <p:cNvSpPr>
            <a:spLocks noGrp="1"/>
          </p:cNvSpPr>
          <p:nvPr/>
        </p:nvSpPr>
        <p:spPr>
          <a:xfrm>
            <a:off x="8334375" y="2438400"/>
            <a:ext cx="3238500" cy="501015"/>
          </a:xfrm>
          <a:prstGeom prst="rect">
            <a:avLst/>
          </a:prstGeom>
          <a:noFill/>
          <a:ln w="0">
            <a:noFill/>
          </a:ln>
        </p:spPr>
        <p:txBody>
          <a:bodyPr wrap="none" lIns="0" tIns="0" rIns="0" bIns="0">
            <a:noAutofit/>
          </a:bodyPr>
          <a:lstStyle/>
          <a:p>
            <a:pPr>
              <a:defRPr sz="2700" b="1">
                <a:solidFill>
                  <a:srgbClr val="D3F879"/>
                </a:solidFill>
                <a:latin typeface="DejaVu Sans"/>
                <a:ea typeface="DejaVu Sans"/>
                <a:cs typeface="DejaVu Sans"/>
              </a:defRPr>
            </a:pPr>
            <a:r>
              <a:rPr sz="2700" b="1">
                <a:solidFill>
                  <a:srgbClr val="D3F879"/>
                </a:solidFill>
                <a:latin typeface="DejaVu Sans"/>
                <a:ea typeface="DejaVu Sans"/>
                <a:cs typeface="DejaVu Sans"/>
              </a:rPr>
              <a:t>h1 to h6</a:t>
            </a:r>
          </a:p>
        </p:txBody>
      </p:sp>
      <p:sp>
        <p:nvSpPr>
          <p:cNvPr id="10" name="Шесть уровней заголовков">
            <a:extLst>
              <a:ext uri="{FF2B5EF4-FFF2-40B4-BE49-F238E27FC236}">
                <a16:creationId xmlns:a16="http://schemas.microsoft.com/office/drawing/2014/main" id="{DE75FC31-652B-4DA8-944F-473090E21CBE}"/>
              </a:ext>
            </a:extLst>
          </p:cNvPr>
          <p:cNvSpPr>
            <a:spLocks noGrp="1"/>
          </p:cNvSpPr>
          <p:nvPr/>
        </p:nvSpPr>
        <p:spPr>
          <a:xfrm>
            <a:off x="8334375" y="3025140"/>
            <a:ext cx="323850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Шесть уровней заголовков</a:t>
            </a:r>
          </a:p>
        </p:txBody>
      </p:sp>
      <p:sp>
        <p:nvSpPr>
          <p:cNvPr id="11" name="p">
            <a:extLst>
              <a:ext uri="{FF2B5EF4-FFF2-40B4-BE49-F238E27FC236}">
                <a16:creationId xmlns:a16="http://schemas.microsoft.com/office/drawing/2014/main" id="{3C7ABCFC-C563-4C6C-9323-487B8459C6D1}"/>
              </a:ext>
            </a:extLst>
          </p:cNvPr>
          <p:cNvSpPr>
            <a:spLocks noGrp="1"/>
          </p:cNvSpPr>
          <p:nvPr/>
        </p:nvSpPr>
        <p:spPr>
          <a:xfrm>
            <a:off x="8334375" y="4086225"/>
            <a:ext cx="3238500" cy="552450"/>
          </a:xfrm>
          <a:prstGeom prst="rect">
            <a:avLst/>
          </a:prstGeom>
          <a:noFill/>
          <a:ln w="0">
            <a:noFill/>
          </a:ln>
        </p:spPr>
        <p:txBody>
          <a:bodyPr wrap="none" lIns="0" tIns="0" rIns="0" bIns="0">
            <a:noAutofit/>
          </a:bodyPr>
          <a:lstStyle/>
          <a:p>
            <a:pPr>
              <a:defRPr sz="3000" b="1">
                <a:solidFill>
                  <a:srgbClr val="86DBD3"/>
                </a:solidFill>
                <a:latin typeface="DejaVu Sans"/>
                <a:ea typeface="DejaVu Sans"/>
                <a:cs typeface="DejaVu Sans"/>
              </a:defRPr>
            </a:pPr>
            <a:r>
              <a:rPr sz="3000" b="1">
                <a:solidFill>
                  <a:srgbClr val="86DBD3"/>
                </a:solidFill>
                <a:latin typeface="DejaVu Sans"/>
                <a:ea typeface="DejaVu Sans"/>
                <a:cs typeface="DejaVu Sans"/>
              </a:rPr>
              <a:t>p</a:t>
            </a:r>
          </a:p>
        </p:txBody>
      </p:sp>
      <p:sp>
        <p:nvSpPr>
          <p:cNvPr id="12" name="Один абзац текста">
            <a:extLst>
              <a:ext uri="{FF2B5EF4-FFF2-40B4-BE49-F238E27FC236}">
                <a16:creationId xmlns:a16="http://schemas.microsoft.com/office/drawing/2014/main" id="{BDEC5E04-E0C6-440F-8515-97226D99FA87}"/>
              </a:ext>
            </a:extLst>
          </p:cNvPr>
          <p:cNvSpPr>
            <a:spLocks noGrp="1"/>
          </p:cNvSpPr>
          <p:nvPr/>
        </p:nvSpPr>
        <p:spPr>
          <a:xfrm>
            <a:off x="8334375" y="4724400"/>
            <a:ext cx="323850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Один абзац текста</a:t>
            </a:r>
          </a:p>
        </p:txBody>
      </p:sp>
      <p:sp>
        <p:nvSpPr>
          <p:cNvPr id="13" name="Heading levels follow the content hierarchy.">
            <a:extLst>
              <a:ext uri="{FF2B5EF4-FFF2-40B4-BE49-F238E27FC236}">
                <a16:creationId xmlns:a16="http://schemas.microsoft.com/office/drawing/2014/main" id="{6036A15B-EDE1-4EA1-AF76-1BF48BE0808B}"/>
              </a:ext>
            </a:extLst>
          </p:cNvPr>
          <p:cNvSpPr>
            <a:spLocks noGrp="1"/>
          </p:cNvSpPr>
          <p:nvPr/>
        </p:nvSpPr>
        <p:spPr>
          <a:xfrm>
            <a:off x="628650" y="5753100"/>
            <a:ext cx="10934700" cy="381000"/>
          </a:xfrm>
          <a:prstGeom prst="rect">
            <a:avLst/>
          </a:prstGeom>
          <a:noFill/>
          <a:ln w="0">
            <a:noFill/>
          </a:ln>
        </p:spPr>
        <p:txBody>
          <a:bodyPr wrap="none" lIns="0" tIns="0" rIns="0" bIns="0">
            <a:noAutofit/>
          </a:bodyPr>
          <a:lstStyle/>
          <a:p>
            <a:pPr>
              <a:defRPr sz="1875" b="1">
                <a:solidFill>
                  <a:srgbClr val="D3F879"/>
                </a:solidFill>
                <a:latin typeface="DejaVu Sans"/>
                <a:ea typeface="DejaVu Sans"/>
                <a:cs typeface="DejaVu Sans"/>
              </a:defRPr>
            </a:pPr>
            <a:r>
              <a:rPr sz="1875" b="1">
                <a:solidFill>
                  <a:srgbClr val="D3F879"/>
                </a:solidFill>
                <a:latin typeface="DejaVu Sans"/>
                <a:ea typeface="DejaVu Sans"/>
                <a:cs typeface="DejaVu Sans"/>
              </a:rPr>
              <a:t>Heading levels follow the content hierarchy.</a:t>
            </a:r>
          </a:p>
        </p:txBody>
      </p:sp>
      <p:sp>
        <p:nvSpPr>
          <p:cNvPr id="14" name="Выбирайте уровень по смыслу, а размер текста меняйте через C">
            <a:extLst>
              <a:ext uri="{FF2B5EF4-FFF2-40B4-BE49-F238E27FC236}">
                <a16:creationId xmlns:a16="http://schemas.microsoft.com/office/drawing/2014/main" id="{F8C32614-4835-49B9-B508-0A436CB19E76}"/>
              </a:ext>
            </a:extLst>
          </p:cNvPr>
          <p:cNvSpPr>
            <a:spLocks noGrp="1"/>
          </p:cNvSpPr>
          <p:nvPr/>
        </p:nvSpPr>
        <p:spPr>
          <a:xfrm>
            <a:off x="628650" y="6172200"/>
            <a:ext cx="10934700" cy="342900"/>
          </a:xfrm>
          <a:prstGeom prst="rect">
            <a:avLst/>
          </a:prstGeom>
          <a:noFill/>
          <a:ln w="0">
            <a:noFill/>
          </a:ln>
        </p:spPr>
        <p:txBody>
          <a:bodyPr wrap="none" lIns="0" tIns="0" rIns="0" bIns="0">
            <a:noAutofit/>
          </a:bodyPr>
          <a:lstStyle/>
          <a:p>
            <a:pPr>
              <a:defRPr sz="1425" b="0">
                <a:solidFill>
                  <a:srgbClr val="ABB7B8"/>
                </a:solidFill>
                <a:latin typeface="DejaVu Sans"/>
                <a:ea typeface="DejaVu Sans"/>
                <a:cs typeface="DejaVu Sans"/>
              </a:defRPr>
            </a:pPr>
            <a:r>
              <a:rPr sz="1425" b="0">
                <a:solidFill>
                  <a:srgbClr val="ABB7B8"/>
                </a:solidFill>
                <a:latin typeface="DejaVu Sans"/>
                <a:ea typeface="DejaVu Sans"/>
                <a:cs typeface="DejaVu Sans"/>
              </a:rPr>
              <a:t>Выбирайте уровень по смыслу, а размер текста меняйте через CSS.</a:t>
            </a:r>
          </a:p>
        </p:txBody>
      </p:sp>
    </p:spTree>
    <p:extLst>
      <p:ext uri="{BB962C8B-B14F-4D97-AF65-F5344CB8AC3E}">
        <p14:creationId xmlns:p14="http://schemas.microsoft.com/office/powerpoint/2010/main" val="1573446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16" name="Links and page sections">
            <a:extLst>
              <a:ext uri="{FF2B5EF4-FFF2-40B4-BE49-F238E27FC236}">
                <a16:creationId xmlns:a16="http://schemas.microsoft.com/office/drawing/2014/main" id="{49C1D76C-8CC6-4974-83E7-FA892BCBFBF5}"/>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Links and page sections</a:t>
            </a:r>
          </a:p>
        </p:txBody>
      </p:sp>
      <p:sp>
        <p:nvSpPr>
          <p:cNvPr id="2" name="Ссылки ведут на другой сайт или к разделу этой страницы">
            <a:extLst>
              <a:ext uri="{FF2B5EF4-FFF2-40B4-BE49-F238E27FC236}">
                <a16:creationId xmlns:a16="http://schemas.microsoft.com/office/drawing/2014/main" id="{3775D8EC-039D-47C9-985A-D1201B8A02A8}"/>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Ссылки ведут на другой сайт или к разделу этой страницы</a:t>
            </a:r>
          </a:p>
        </p:txBody>
      </p:sp>
      <p:sp>
        <p:nvSpPr>
          <p:cNvPr id="3" name="11">
            <a:extLst>
              <a:ext uri="{FF2B5EF4-FFF2-40B4-BE49-F238E27FC236}">
                <a16:creationId xmlns:a16="http://schemas.microsoft.com/office/drawing/2014/main" id="{9BDD7EA5-29AB-4FEE-9B0E-47834F675FD0}"/>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11</a:t>
            </a:r>
          </a:p>
        </p:txBody>
      </p:sp>
      <p:sp>
        <p:nvSpPr>
          <p:cNvPr id="4" name="Another website">
            <a:extLst>
              <a:ext uri="{FF2B5EF4-FFF2-40B4-BE49-F238E27FC236}">
                <a16:creationId xmlns:a16="http://schemas.microsoft.com/office/drawing/2014/main" id="{368F6029-8ECE-4AF1-B307-6084AEC275B3}"/>
              </a:ext>
            </a:extLst>
          </p:cNvPr>
          <p:cNvSpPr>
            <a:spLocks noGrp="1"/>
          </p:cNvSpPr>
          <p:nvPr/>
        </p:nvSpPr>
        <p:spPr>
          <a:xfrm>
            <a:off x="628650" y="2047875"/>
            <a:ext cx="5238750" cy="447675"/>
          </a:xfrm>
          <a:prstGeom prst="rect">
            <a:avLst/>
          </a:prstGeom>
          <a:noFill/>
          <a:ln w="0">
            <a:noFill/>
          </a:ln>
        </p:spPr>
        <p:txBody>
          <a:bodyPr wrap="none" lIns="0" tIns="0" rIns="0" bIns="0">
            <a:noAutofit/>
          </a:bodyPr>
          <a:lstStyle/>
          <a:p>
            <a:pPr>
              <a:defRPr sz="2250" b="1">
                <a:solidFill>
                  <a:srgbClr val="F5F5EE"/>
                </a:solidFill>
                <a:latin typeface="DejaVu Sans"/>
                <a:ea typeface="DejaVu Sans"/>
                <a:cs typeface="DejaVu Sans"/>
              </a:defRPr>
            </a:pPr>
            <a:r>
              <a:rPr sz="2250" b="1">
                <a:solidFill>
                  <a:srgbClr val="F5F5EE"/>
                </a:solidFill>
                <a:latin typeface="DejaVu Sans"/>
                <a:ea typeface="DejaVu Sans"/>
                <a:cs typeface="DejaVu Sans"/>
              </a:rPr>
              <a:t>Another website</a:t>
            </a:r>
          </a:p>
        </p:txBody>
      </p:sp>
      <p:sp>
        <p:nvSpPr>
          <p:cNvPr id="5" name="&lt;a href=&quot;https://alatoo.edu.kg/&quot;&gt;">
            <a:extLst>
              <a:ext uri="{FF2B5EF4-FFF2-40B4-BE49-F238E27FC236}">
                <a16:creationId xmlns:a16="http://schemas.microsoft.com/office/drawing/2014/main" id="{7DC66E60-EA93-4427-87FE-E30D8C9101FF}"/>
              </a:ext>
            </a:extLst>
          </p:cNvPr>
          <p:cNvSpPr>
            <a:spLocks noGrp="1"/>
          </p:cNvSpPr>
          <p:nvPr/>
        </p:nvSpPr>
        <p:spPr>
          <a:xfrm>
            <a:off x="638175" y="2676525"/>
            <a:ext cx="6381750" cy="457200"/>
          </a:xfrm>
          <a:prstGeom prst="rect">
            <a:avLst/>
          </a:prstGeom>
          <a:noFill/>
          <a:ln w="0">
            <a:noFill/>
          </a:ln>
        </p:spPr>
        <p:txBody>
          <a:bodyPr wrap="none" lIns="0" tIns="0" rIns="0" bIns="0">
            <a:noAutofit/>
          </a:bodyPr>
          <a:lstStyle/>
          <a:p>
            <a:pPr>
              <a:defRPr sz="1950" b="0">
                <a:solidFill>
                  <a:srgbClr val="F5F5EE"/>
                </a:solidFill>
                <a:latin typeface="DejaVu Sans Mono"/>
                <a:ea typeface="DejaVu Sans Mono"/>
                <a:cs typeface="DejaVu Sans Mono"/>
              </a:defRPr>
            </a:pPr>
            <a:r>
              <a:rPr>
                <a:solidFill>
                  <a:srgbClr val="86DBD3"/>
                </a:solidFill>
              </a:rPr>
              <a:t>&lt;a</a:t>
            </a:r>
            <a:r>
              <a:rPr>
                <a:solidFill>
                  <a:srgbClr val="F5F5EE"/>
                </a:solidFill>
              </a:rPr>
              <a:t> </a:t>
            </a:r>
            <a:r>
              <a:rPr>
                <a:solidFill>
                  <a:srgbClr val="D3F879"/>
                </a:solidFill>
              </a:rPr>
              <a:t>href</a:t>
            </a:r>
            <a:r>
              <a:rPr>
                <a:solidFill>
                  <a:srgbClr val="F5F5EE"/>
                </a:solidFill>
              </a:rPr>
              <a:t>=</a:t>
            </a:r>
            <a:r>
              <a:rPr>
                <a:solidFill>
                  <a:srgbClr val="F0C5A6"/>
                </a:solidFill>
              </a:rPr>
              <a:t>"https://alatoo.edu.kg/"</a:t>
            </a:r>
            <a:r>
              <a:rPr>
                <a:solidFill>
                  <a:srgbClr val="86DBD3"/>
                </a:solidFill>
              </a:rPr>
              <a:t>&gt;</a:t>
            </a:r>
          </a:p>
        </p:txBody>
      </p:sp>
      <p:sp>
        <p:nvSpPr>
          <p:cNvPr id="6" name="  University website">
            <a:extLst>
              <a:ext uri="{FF2B5EF4-FFF2-40B4-BE49-F238E27FC236}">
                <a16:creationId xmlns:a16="http://schemas.microsoft.com/office/drawing/2014/main" id="{99F3B3A6-2AF7-4716-A7DE-114C3C1CE0B5}"/>
              </a:ext>
            </a:extLst>
          </p:cNvPr>
          <p:cNvSpPr>
            <a:spLocks noGrp="1"/>
          </p:cNvSpPr>
          <p:nvPr/>
        </p:nvSpPr>
        <p:spPr>
          <a:xfrm>
            <a:off x="638175" y="3105150"/>
            <a:ext cx="6381750" cy="457200"/>
          </a:xfrm>
          <a:prstGeom prst="rect">
            <a:avLst/>
          </a:prstGeom>
          <a:noFill/>
          <a:ln w="0">
            <a:noFill/>
          </a:ln>
        </p:spPr>
        <p:txBody>
          <a:bodyPr wrap="none" lIns="0" tIns="0" rIns="0" bIns="0">
            <a:noAutofit/>
          </a:bodyPr>
          <a:lstStyle/>
          <a:p>
            <a:pPr>
              <a:defRPr sz="1950" b="0">
                <a:solidFill>
                  <a:srgbClr val="F5F5EE"/>
                </a:solidFill>
                <a:latin typeface="DejaVu Sans Mono"/>
                <a:ea typeface="DejaVu Sans Mono"/>
                <a:cs typeface="DejaVu Sans Mono"/>
              </a:defRPr>
            </a:pPr>
            <a:r>
              <a:rPr>
                <a:solidFill>
                  <a:srgbClr val="F5F5EE"/>
                </a:solidFill>
              </a:rPr>
              <a:t>  University website</a:t>
            </a:r>
          </a:p>
        </p:txBody>
      </p:sp>
      <p:sp>
        <p:nvSpPr>
          <p:cNvPr id="7" name="&lt;/a&gt;">
            <a:extLst>
              <a:ext uri="{FF2B5EF4-FFF2-40B4-BE49-F238E27FC236}">
                <a16:creationId xmlns:a16="http://schemas.microsoft.com/office/drawing/2014/main" id="{6E6A8F29-6713-45DE-9DB2-8330ED40126B}"/>
              </a:ext>
            </a:extLst>
          </p:cNvPr>
          <p:cNvSpPr>
            <a:spLocks noGrp="1"/>
          </p:cNvSpPr>
          <p:nvPr/>
        </p:nvSpPr>
        <p:spPr>
          <a:xfrm>
            <a:off x="638175" y="3533775"/>
            <a:ext cx="6381750" cy="457200"/>
          </a:xfrm>
          <a:prstGeom prst="rect">
            <a:avLst/>
          </a:prstGeom>
          <a:noFill/>
          <a:ln w="0">
            <a:noFill/>
          </a:ln>
        </p:spPr>
        <p:txBody>
          <a:bodyPr wrap="none" lIns="0" tIns="0" rIns="0" bIns="0">
            <a:noAutofit/>
          </a:bodyPr>
          <a:lstStyle/>
          <a:p>
            <a:pPr>
              <a:defRPr sz="1950" b="0">
                <a:solidFill>
                  <a:srgbClr val="F5F5EE"/>
                </a:solidFill>
                <a:latin typeface="DejaVu Sans Mono"/>
                <a:ea typeface="DejaVu Sans Mono"/>
                <a:cs typeface="DejaVu Sans Mono"/>
              </a:defRPr>
            </a:pPr>
            <a:r>
              <a:rPr>
                <a:solidFill>
                  <a:srgbClr val="86DBD3"/>
                </a:solidFill>
              </a:rPr>
              <a:t>&lt;/a&gt;</a:t>
            </a:r>
          </a:p>
        </p:txBody>
      </p:sp>
      <p:sp>
        <p:nvSpPr>
          <p:cNvPr id="8" name="A section on this page">
            <a:extLst>
              <a:ext uri="{FF2B5EF4-FFF2-40B4-BE49-F238E27FC236}">
                <a16:creationId xmlns:a16="http://schemas.microsoft.com/office/drawing/2014/main" id="{153A0C36-AD7E-4497-A9EE-398141BC2210}"/>
              </a:ext>
            </a:extLst>
          </p:cNvPr>
          <p:cNvSpPr>
            <a:spLocks noGrp="1"/>
          </p:cNvSpPr>
          <p:nvPr/>
        </p:nvSpPr>
        <p:spPr>
          <a:xfrm>
            <a:off x="7239000" y="2047875"/>
            <a:ext cx="4362450" cy="447675"/>
          </a:xfrm>
          <a:prstGeom prst="rect">
            <a:avLst/>
          </a:prstGeom>
          <a:noFill/>
          <a:ln w="0">
            <a:noFill/>
          </a:ln>
        </p:spPr>
        <p:txBody>
          <a:bodyPr wrap="none" lIns="0" tIns="0" rIns="0" bIns="0">
            <a:noAutofit/>
          </a:bodyPr>
          <a:lstStyle/>
          <a:p>
            <a:pPr>
              <a:defRPr sz="2175" b="1">
                <a:solidFill>
                  <a:srgbClr val="F5F5EE"/>
                </a:solidFill>
                <a:latin typeface="DejaVu Sans"/>
                <a:ea typeface="DejaVu Sans"/>
                <a:cs typeface="DejaVu Sans"/>
              </a:defRPr>
            </a:pPr>
            <a:r>
              <a:rPr sz="2175" b="1">
                <a:solidFill>
                  <a:srgbClr val="F5F5EE"/>
                </a:solidFill>
                <a:latin typeface="DejaVu Sans"/>
                <a:ea typeface="DejaVu Sans"/>
                <a:cs typeface="DejaVu Sans"/>
              </a:rPr>
              <a:t>A section on this page</a:t>
            </a:r>
          </a:p>
        </p:txBody>
      </p:sp>
      <p:sp>
        <p:nvSpPr>
          <p:cNvPr id="9" name="&lt;a href=&quot;#clubs&quot;&gt;Clubs&lt;/a&gt;">
            <a:extLst>
              <a:ext uri="{FF2B5EF4-FFF2-40B4-BE49-F238E27FC236}">
                <a16:creationId xmlns:a16="http://schemas.microsoft.com/office/drawing/2014/main" id="{55066CEF-FE5F-4855-9BFF-A803A964B69B}"/>
              </a:ext>
            </a:extLst>
          </p:cNvPr>
          <p:cNvSpPr>
            <a:spLocks noGrp="1"/>
          </p:cNvSpPr>
          <p:nvPr/>
        </p:nvSpPr>
        <p:spPr>
          <a:xfrm>
            <a:off x="7248525" y="2676525"/>
            <a:ext cx="4476750" cy="438150"/>
          </a:xfrm>
          <a:prstGeom prst="rect">
            <a:avLst/>
          </a:prstGeom>
          <a:noFill/>
          <a:ln w="0">
            <a:noFill/>
          </a:ln>
        </p:spPr>
        <p:txBody>
          <a:bodyPr wrap="none" lIns="0" tIns="0" rIns="0" bIns="0">
            <a:noAutofit/>
          </a:bodyPr>
          <a:lstStyle/>
          <a:p>
            <a:pPr>
              <a:defRPr sz="1800" b="0">
                <a:solidFill>
                  <a:srgbClr val="F5F5EE"/>
                </a:solidFill>
                <a:latin typeface="DejaVu Sans Mono"/>
                <a:ea typeface="DejaVu Sans Mono"/>
                <a:cs typeface="DejaVu Sans Mono"/>
              </a:defRPr>
            </a:pPr>
            <a:r>
              <a:rPr>
                <a:solidFill>
                  <a:srgbClr val="86DBD3"/>
                </a:solidFill>
              </a:rPr>
              <a:t>&lt;a</a:t>
            </a:r>
            <a:r>
              <a:rPr>
                <a:solidFill>
                  <a:srgbClr val="F5F5EE"/>
                </a:solidFill>
              </a:rPr>
              <a:t> </a:t>
            </a:r>
            <a:r>
              <a:rPr>
                <a:solidFill>
                  <a:srgbClr val="D3F879"/>
                </a:solidFill>
              </a:rPr>
              <a:t>href</a:t>
            </a:r>
            <a:r>
              <a:rPr>
                <a:solidFill>
                  <a:srgbClr val="F5F5EE"/>
                </a:solidFill>
              </a:rPr>
              <a:t>=</a:t>
            </a:r>
            <a:r>
              <a:rPr>
                <a:solidFill>
                  <a:srgbClr val="F0C5A6"/>
                </a:solidFill>
              </a:rPr>
              <a:t>"#clubs"</a:t>
            </a:r>
            <a:r>
              <a:rPr>
                <a:solidFill>
                  <a:srgbClr val="86DBD3"/>
                </a:solidFill>
              </a:rPr>
              <a:t>&gt;</a:t>
            </a:r>
            <a:r>
              <a:rPr>
                <a:solidFill>
                  <a:srgbClr val="F5F5EE"/>
                </a:solidFill>
              </a:rPr>
              <a:t>Clubs</a:t>
            </a:r>
            <a:r>
              <a:rPr>
                <a:solidFill>
                  <a:srgbClr val="86DBD3"/>
                </a:solidFill>
              </a:rPr>
              <a:t>&lt;/a&gt;</a:t>
            </a:r>
          </a:p>
        </p:txBody>
      </p:sp>
      <p:sp>
        <p:nvSpPr>
          <p:cNvPr id="10" name=" ">
            <a:extLst>
              <a:ext uri="{FF2B5EF4-FFF2-40B4-BE49-F238E27FC236}">
                <a16:creationId xmlns:a16="http://schemas.microsoft.com/office/drawing/2014/main" id="{31FBFFD2-0806-418E-AF65-1064BB6993A1}"/>
              </a:ext>
            </a:extLst>
          </p:cNvPr>
          <p:cNvSpPr>
            <a:spLocks noGrp="1"/>
          </p:cNvSpPr>
          <p:nvPr/>
        </p:nvSpPr>
        <p:spPr>
          <a:xfrm>
            <a:off x="7248525" y="3086100"/>
            <a:ext cx="4476750" cy="438150"/>
          </a:xfrm>
          <a:prstGeom prst="rect">
            <a:avLst/>
          </a:prstGeom>
          <a:noFill/>
          <a:ln w="0">
            <a:noFill/>
          </a:ln>
        </p:spPr>
        <p:txBody>
          <a:bodyPr wrap="none" lIns="0" tIns="0" rIns="0" bIns="0">
            <a:noAutofit/>
          </a:bodyPr>
          <a:lstStyle/>
          <a:p>
            <a:pPr>
              <a:defRPr sz="1800" b="0">
                <a:solidFill>
                  <a:srgbClr val="F5F5EE"/>
                </a:solidFill>
                <a:latin typeface="DejaVu Sans Mono"/>
                <a:ea typeface="DejaVu Sans Mono"/>
                <a:cs typeface="DejaVu Sans Mono"/>
              </a:defRPr>
            </a:pPr>
            <a:r>
              <a:rPr sz="1800" b="0">
                <a:solidFill>
                  <a:srgbClr val="F5F5EE"/>
                </a:solidFill>
                <a:latin typeface="DejaVu Sans Mono"/>
                <a:ea typeface="DejaVu Sans Mono"/>
                <a:cs typeface="DejaVu Sans Mono"/>
              </a:rPr>
              <a:t> </a:t>
            </a:r>
          </a:p>
        </p:txBody>
      </p:sp>
      <p:sp>
        <p:nvSpPr>
          <p:cNvPr id="11" name="&lt;h2 id=&quot;clubs&quot;&gt;">
            <a:extLst>
              <a:ext uri="{FF2B5EF4-FFF2-40B4-BE49-F238E27FC236}">
                <a16:creationId xmlns:a16="http://schemas.microsoft.com/office/drawing/2014/main" id="{D5ED45C0-50B6-403F-A1B3-305D932025F1}"/>
              </a:ext>
            </a:extLst>
          </p:cNvPr>
          <p:cNvSpPr>
            <a:spLocks noGrp="1"/>
          </p:cNvSpPr>
          <p:nvPr/>
        </p:nvSpPr>
        <p:spPr>
          <a:xfrm>
            <a:off x="7248525" y="3495675"/>
            <a:ext cx="4476750" cy="438150"/>
          </a:xfrm>
          <a:prstGeom prst="rect">
            <a:avLst/>
          </a:prstGeom>
          <a:noFill/>
          <a:ln w="0">
            <a:noFill/>
          </a:ln>
        </p:spPr>
        <p:txBody>
          <a:bodyPr wrap="none" lIns="0" tIns="0" rIns="0" bIns="0">
            <a:noAutofit/>
          </a:bodyPr>
          <a:lstStyle/>
          <a:p>
            <a:pPr>
              <a:defRPr sz="1800" b="0">
                <a:solidFill>
                  <a:srgbClr val="F5F5EE"/>
                </a:solidFill>
                <a:latin typeface="DejaVu Sans Mono"/>
                <a:ea typeface="DejaVu Sans Mono"/>
                <a:cs typeface="DejaVu Sans Mono"/>
              </a:defRPr>
            </a:pPr>
            <a:r>
              <a:rPr>
                <a:solidFill>
                  <a:srgbClr val="86DBD3"/>
                </a:solidFill>
              </a:rPr>
              <a:t>&lt;h2</a:t>
            </a:r>
            <a:r>
              <a:rPr>
                <a:solidFill>
                  <a:srgbClr val="F5F5EE"/>
                </a:solidFill>
              </a:rPr>
              <a:t> </a:t>
            </a:r>
            <a:r>
              <a:rPr>
                <a:solidFill>
                  <a:srgbClr val="D3F879"/>
                </a:solidFill>
              </a:rPr>
              <a:t>id</a:t>
            </a:r>
            <a:r>
              <a:rPr>
                <a:solidFill>
                  <a:srgbClr val="F5F5EE"/>
                </a:solidFill>
              </a:rPr>
              <a:t>=</a:t>
            </a:r>
            <a:r>
              <a:rPr>
                <a:solidFill>
                  <a:srgbClr val="F0C5A6"/>
                </a:solidFill>
              </a:rPr>
              <a:t>"clubs"</a:t>
            </a:r>
            <a:r>
              <a:rPr>
                <a:solidFill>
                  <a:srgbClr val="86DBD3"/>
                </a:solidFill>
              </a:rPr>
              <a:t>&gt;</a:t>
            </a:r>
          </a:p>
        </p:txBody>
      </p:sp>
      <p:sp>
        <p:nvSpPr>
          <p:cNvPr id="12" name="  Student clubs">
            <a:extLst>
              <a:ext uri="{FF2B5EF4-FFF2-40B4-BE49-F238E27FC236}">
                <a16:creationId xmlns:a16="http://schemas.microsoft.com/office/drawing/2014/main" id="{B462B278-3510-49ED-83C6-9FC622CF8BE2}"/>
              </a:ext>
            </a:extLst>
          </p:cNvPr>
          <p:cNvSpPr>
            <a:spLocks noGrp="1"/>
          </p:cNvSpPr>
          <p:nvPr/>
        </p:nvSpPr>
        <p:spPr>
          <a:xfrm>
            <a:off x="7248525" y="3905250"/>
            <a:ext cx="4476750" cy="438150"/>
          </a:xfrm>
          <a:prstGeom prst="rect">
            <a:avLst/>
          </a:prstGeom>
          <a:noFill/>
          <a:ln w="0">
            <a:noFill/>
          </a:ln>
        </p:spPr>
        <p:txBody>
          <a:bodyPr wrap="none" lIns="0" tIns="0" rIns="0" bIns="0">
            <a:noAutofit/>
          </a:bodyPr>
          <a:lstStyle/>
          <a:p>
            <a:pPr>
              <a:defRPr sz="1800" b="0">
                <a:solidFill>
                  <a:srgbClr val="F5F5EE"/>
                </a:solidFill>
                <a:latin typeface="DejaVu Sans Mono"/>
                <a:ea typeface="DejaVu Sans Mono"/>
                <a:cs typeface="DejaVu Sans Mono"/>
              </a:defRPr>
            </a:pPr>
            <a:r>
              <a:rPr>
                <a:solidFill>
                  <a:srgbClr val="F5F5EE"/>
                </a:solidFill>
              </a:rPr>
              <a:t>  Student clubs</a:t>
            </a:r>
          </a:p>
        </p:txBody>
      </p:sp>
      <p:sp>
        <p:nvSpPr>
          <p:cNvPr id="13" name="&lt;/h2&gt;">
            <a:extLst>
              <a:ext uri="{FF2B5EF4-FFF2-40B4-BE49-F238E27FC236}">
                <a16:creationId xmlns:a16="http://schemas.microsoft.com/office/drawing/2014/main" id="{74ED0E7E-9CFA-4832-8892-A7FBF143AD1D}"/>
              </a:ext>
            </a:extLst>
          </p:cNvPr>
          <p:cNvSpPr>
            <a:spLocks noGrp="1"/>
          </p:cNvSpPr>
          <p:nvPr/>
        </p:nvSpPr>
        <p:spPr>
          <a:xfrm>
            <a:off x="7248525" y="4314825"/>
            <a:ext cx="4476750" cy="438150"/>
          </a:xfrm>
          <a:prstGeom prst="rect">
            <a:avLst/>
          </a:prstGeom>
          <a:noFill/>
          <a:ln w="0">
            <a:noFill/>
          </a:ln>
        </p:spPr>
        <p:txBody>
          <a:bodyPr wrap="none" lIns="0" tIns="0" rIns="0" bIns="0">
            <a:noAutofit/>
          </a:bodyPr>
          <a:lstStyle/>
          <a:p>
            <a:pPr>
              <a:defRPr sz="1800" b="0">
                <a:solidFill>
                  <a:srgbClr val="F5F5EE"/>
                </a:solidFill>
                <a:latin typeface="DejaVu Sans Mono"/>
                <a:ea typeface="DejaVu Sans Mono"/>
                <a:cs typeface="DejaVu Sans Mono"/>
              </a:defRPr>
            </a:pPr>
            <a:r>
              <a:rPr>
                <a:solidFill>
                  <a:srgbClr val="86DBD3"/>
                </a:solidFill>
              </a:rPr>
              <a:t>&lt;/h2&gt;</a:t>
            </a:r>
          </a:p>
        </p:txBody>
      </p:sp>
      <p:sp>
        <p:nvSpPr>
          <p:cNvPr id="14" name="href=&quot;#clubs&quot; points to id=&quot;clubs&quot;.">
            <a:extLst>
              <a:ext uri="{FF2B5EF4-FFF2-40B4-BE49-F238E27FC236}">
                <a16:creationId xmlns:a16="http://schemas.microsoft.com/office/drawing/2014/main" id="{AD2F9E7D-B8F1-4AF8-89AE-13282B223E2B}"/>
              </a:ext>
            </a:extLst>
          </p:cNvPr>
          <p:cNvSpPr>
            <a:spLocks noGrp="1"/>
          </p:cNvSpPr>
          <p:nvPr/>
        </p:nvSpPr>
        <p:spPr>
          <a:xfrm>
            <a:off x="628650" y="5629275"/>
            <a:ext cx="10934700" cy="381000"/>
          </a:xfrm>
          <a:prstGeom prst="rect">
            <a:avLst/>
          </a:prstGeom>
          <a:noFill/>
          <a:ln w="0">
            <a:noFill/>
          </a:ln>
        </p:spPr>
        <p:txBody>
          <a:bodyPr wrap="none" lIns="0" tIns="0" rIns="0" bIns="0">
            <a:noAutofit/>
          </a:bodyPr>
          <a:lstStyle/>
          <a:p>
            <a:pPr>
              <a:defRPr sz="1875" b="1">
                <a:solidFill>
                  <a:srgbClr val="D3F879"/>
                </a:solidFill>
                <a:latin typeface="DejaVu Sans"/>
                <a:ea typeface="DejaVu Sans"/>
                <a:cs typeface="DejaVu Sans"/>
              </a:defRPr>
            </a:pPr>
            <a:r>
              <a:rPr sz="1875" b="1">
                <a:solidFill>
                  <a:srgbClr val="D3F879"/>
                </a:solidFill>
                <a:latin typeface="DejaVu Sans"/>
                <a:ea typeface="DejaVu Sans"/>
                <a:cs typeface="DejaVu Sans"/>
              </a:rPr>
              <a:t>href="#clubs" points to id="clubs".</a:t>
            </a:r>
          </a:p>
        </p:txBody>
      </p:sp>
      <p:sp>
        <p:nvSpPr>
          <p:cNvPr id="15" name="Значение после # должно совпадать с id нужного элемента.">
            <a:extLst>
              <a:ext uri="{FF2B5EF4-FFF2-40B4-BE49-F238E27FC236}">
                <a16:creationId xmlns:a16="http://schemas.microsoft.com/office/drawing/2014/main" id="{B76F9A50-7F4A-42E5-BFD7-0C986C019599}"/>
              </a:ext>
            </a:extLst>
          </p:cNvPr>
          <p:cNvSpPr>
            <a:spLocks noGrp="1"/>
          </p:cNvSpPr>
          <p:nvPr/>
        </p:nvSpPr>
        <p:spPr>
          <a:xfrm>
            <a:off x="628650" y="6048375"/>
            <a:ext cx="10934700" cy="342900"/>
          </a:xfrm>
          <a:prstGeom prst="rect">
            <a:avLst/>
          </a:prstGeom>
          <a:noFill/>
          <a:ln w="0">
            <a:noFill/>
          </a:ln>
        </p:spPr>
        <p:txBody>
          <a:bodyPr wrap="none" lIns="0" tIns="0" rIns="0" bIns="0">
            <a:noAutofit/>
          </a:bodyPr>
          <a:lstStyle/>
          <a:p>
            <a:pPr>
              <a:defRPr sz="1425" b="0">
                <a:solidFill>
                  <a:srgbClr val="ABB7B8"/>
                </a:solidFill>
                <a:latin typeface="DejaVu Sans"/>
                <a:ea typeface="DejaVu Sans"/>
                <a:cs typeface="DejaVu Sans"/>
              </a:defRPr>
            </a:pPr>
            <a:r>
              <a:rPr sz="1425" b="0">
                <a:solidFill>
                  <a:srgbClr val="ABB7B8"/>
                </a:solidFill>
                <a:latin typeface="DejaVu Sans"/>
                <a:ea typeface="DejaVu Sans"/>
                <a:cs typeface="DejaVu Sans"/>
              </a:rPr>
              <a:t>Значение после # должно совпадать с id нужного элемента.</a:t>
            </a:r>
          </a:p>
        </p:txBody>
      </p:sp>
    </p:spTree>
    <p:extLst>
      <p:ext uri="{BB962C8B-B14F-4D97-AF65-F5344CB8AC3E}">
        <p14:creationId xmlns:p14="http://schemas.microsoft.com/office/powerpoint/2010/main" val="817938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12" name="Images and alternative text">
            <a:extLst>
              <a:ext uri="{FF2B5EF4-FFF2-40B4-BE49-F238E27FC236}">
                <a16:creationId xmlns:a16="http://schemas.microsoft.com/office/drawing/2014/main" id="{078ECD90-8257-42E3-9DF7-F267ACE6CD54}"/>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Images and alternative text</a:t>
            </a:r>
          </a:p>
        </p:txBody>
      </p:sp>
      <p:sp>
        <p:nvSpPr>
          <p:cNvPr id="2" name="Изображение подключается через src, его смысл описывает alt">
            <a:extLst>
              <a:ext uri="{FF2B5EF4-FFF2-40B4-BE49-F238E27FC236}">
                <a16:creationId xmlns:a16="http://schemas.microsoft.com/office/drawing/2014/main" id="{A2A5D64E-7B1C-4EB5-9B7E-46FBEB989247}"/>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Изображение подключается через src, его смысл описывает alt</a:t>
            </a:r>
          </a:p>
        </p:txBody>
      </p:sp>
      <p:sp>
        <p:nvSpPr>
          <p:cNvPr id="3" name="12">
            <a:extLst>
              <a:ext uri="{FF2B5EF4-FFF2-40B4-BE49-F238E27FC236}">
                <a16:creationId xmlns:a16="http://schemas.microsoft.com/office/drawing/2014/main" id="{200FAA45-C2F3-4C64-A65A-D2B483B43E1F}"/>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12</a:t>
            </a:r>
          </a:p>
        </p:txBody>
      </p:sp>
      <p:sp>
        <p:nvSpPr>
          <p:cNvPr id="4" name="&lt;img src=&quot;images/campus.jpg&quot;">
            <a:extLst>
              <a:ext uri="{FF2B5EF4-FFF2-40B4-BE49-F238E27FC236}">
                <a16:creationId xmlns:a16="http://schemas.microsoft.com/office/drawing/2014/main" id="{05B2498C-B5B2-4486-95C2-0F800AC562DE}"/>
              </a:ext>
            </a:extLst>
          </p:cNvPr>
          <p:cNvSpPr>
            <a:spLocks noGrp="1"/>
          </p:cNvSpPr>
          <p:nvPr/>
        </p:nvSpPr>
        <p:spPr>
          <a:xfrm>
            <a:off x="638175" y="2247900"/>
            <a:ext cx="10953750" cy="609600"/>
          </a:xfrm>
          <a:prstGeom prst="rect">
            <a:avLst/>
          </a:prstGeom>
          <a:noFill/>
          <a:ln w="0">
            <a:noFill/>
          </a:ln>
        </p:spPr>
        <p:txBody>
          <a:bodyPr wrap="none" lIns="0" tIns="0" rIns="0" bIns="0">
            <a:noAutofit/>
          </a:bodyPr>
          <a:lstStyle/>
          <a:p>
            <a:pPr>
              <a:defRPr sz="2475" b="0">
                <a:solidFill>
                  <a:srgbClr val="F5F5EE"/>
                </a:solidFill>
                <a:latin typeface="DejaVu Sans Mono"/>
                <a:ea typeface="DejaVu Sans Mono"/>
                <a:cs typeface="DejaVu Sans Mono"/>
              </a:defRPr>
            </a:pPr>
            <a:r>
              <a:rPr>
                <a:solidFill>
                  <a:srgbClr val="86DBD3"/>
                </a:solidFill>
              </a:rPr>
              <a:t>&lt;img</a:t>
            </a:r>
            <a:r>
              <a:rPr>
                <a:solidFill>
                  <a:srgbClr val="F5F5EE"/>
                </a:solidFill>
              </a:rPr>
              <a:t> </a:t>
            </a:r>
            <a:r>
              <a:rPr>
                <a:solidFill>
                  <a:srgbClr val="D3F879"/>
                </a:solidFill>
              </a:rPr>
              <a:t>src</a:t>
            </a:r>
            <a:r>
              <a:rPr>
                <a:solidFill>
                  <a:srgbClr val="F5F5EE"/>
                </a:solidFill>
              </a:rPr>
              <a:t>=</a:t>
            </a:r>
            <a:r>
              <a:rPr>
                <a:solidFill>
                  <a:srgbClr val="F0C5A6"/>
                </a:solidFill>
              </a:rPr>
              <a:t>"images/campus.jpg"</a:t>
            </a:r>
          </a:p>
        </p:txBody>
      </p:sp>
      <p:sp>
        <p:nvSpPr>
          <p:cNvPr id="5" name="     alt=&quot;Main entrance to the campus&quot;">
            <a:extLst>
              <a:ext uri="{FF2B5EF4-FFF2-40B4-BE49-F238E27FC236}">
                <a16:creationId xmlns:a16="http://schemas.microsoft.com/office/drawing/2014/main" id="{8211D10F-6E69-422A-A972-9D59965006ED}"/>
              </a:ext>
            </a:extLst>
          </p:cNvPr>
          <p:cNvSpPr>
            <a:spLocks noGrp="1"/>
          </p:cNvSpPr>
          <p:nvPr/>
        </p:nvSpPr>
        <p:spPr>
          <a:xfrm>
            <a:off x="638175" y="2828925"/>
            <a:ext cx="10953750" cy="609600"/>
          </a:xfrm>
          <a:prstGeom prst="rect">
            <a:avLst/>
          </a:prstGeom>
          <a:noFill/>
          <a:ln w="0">
            <a:noFill/>
          </a:ln>
        </p:spPr>
        <p:txBody>
          <a:bodyPr wrap="none" lIns="0" tIns="0" rIns="0" bIns="0">
            <a:noAutofit/>
          </a:bodyPr>
          <a:lstStyle/>
          <a:p>
            <a:pPr>
              <a:defRPr sz="2475" b="0">
                <a:solidFill>
                  <a:srgbClr val="F5F5EE"/>
                </a:solidFill>
                <a:latin typeface="DejaVu Sans Mono"/>
                <a:ea typeface="DejaVu Sans Mono"/>
                <a:cs typeface="DejaVu Sans Mono"/>
              </a:defRPr>
            </a:pPr>
            <a:r>
              <a:rPr>
                <a:solidFill>
                  <a:srgbClr val="F5F5EE"/>
                </a:solidFill>
              </a:rPr>
              <a:t>     </a:t>
            </a:r>
            <a:r>
              <a:rPr>
                <a:solidFill>
                  <a:srgbClr val="D3F879"/>
                </a:solidFill>
              </a:rPr>
              <a:t>alt</a:t>
            </a:r>
            <a:r>
              <a:rPr>
                <a:solidFill>
                  <a:srgbClr val="F5F5EE"/>
                </a:solidFill>
              </a:rPr>
              <a:t>=</a:t>
            </a:r>
            <a:r>
              <a:rPr>
                <a:solidFill>
                  <a:srgbClr val="F0C5A6"/>
                </a:solidFill>
              </a:rPr>
              <a:t>"Main entrance to the campus"</a:t>
            </a:r>
          </a:p>
        </p:txBody>
      </p:sp>
      <p:sp>
        <p:nvSpPr>
          <p:cNvPr id="6" name="     width=&quot;480&quot;&gt;">
            <a:extLst>
              <a:ext uri="{FF2B5EF4-FFF2-40B4-BE49-F238E27FC236}">
                <a16:creationId xmlns:a16="http://schemas.microsoft.com/office/drawing/2014/main" id="{D1A08DCC-3A70-4A2D-A472-8BED21C04E24}"/>
              </a:ext>
            </a:extLst>
          </p:cNvPr>
          <p:cNvSpPr>
            <a:spLocks noGrp="1"/>
          </p:cNvSpPr>
          <p:nvPr/>
        </p:nvSpPr>
        <p:spPr>
          <a:xfrm>
            <a:off x="638175" y="3409950"/>
            <a:ext cx="10953750" cy="609600"/>
          </a:xfrm>
          <a:prstGeom prst="rect">
            <a:avLst/>
          </a:prstGeom>
          <a:noFill/>
          <a:ln w="0">
            <a:noFill/>
          </a:ln>
        </p:spPr>
        <p:txBody>
          <a:bodyPr wrap="none" lIns="0" tIns="0" rIns="0" bIns="0">
            <a:noAutofit/>
          </a:bodyPr>
          <a:lstStyle/>
          <a:p>
            <a:pPr>
              <a:defRPr sz="2475" b="0">
                <a:solidFill>
                  <a:srgbClr val="F5F5EE"/>
                </a:solidFill>
                <a:latin typeface="DejaVu Sans Mono"/>
                <a:ea typeface="DejaVu Sans Mono"/>
                <a:cs typeface="DejaVu Sans Mono"/>
              </a:defRPr>
            </a:pPr>
            <a:r>
              <a:rPr>
                <a:solidFill>
                  <a:srgbClr val="F5F5EE"/>
                </a:solidFill>
              </a:rPr>
              <a:t>     </a:t>
            </a:r>
            <a:r>
              <a:rPr>
                <a:solidFill>
                  <a:srgbClr val="D3F879"/>
                </a:solidFill>
              </a:rPr>
              <a:t>width</a:t>
            </a:r>
            <a:r>
              <a:rPr>
                <a:solidFill>
                  <a:srgbClr val="F5F5EE"/>
                </a:solidFill>
              </a:rPr>
              <a:t>=</a:t>
            </a:r>
            <a:r>
              <a:rPr>
                <a:solidFill>
                  <a:srgbClr val="F0C5A6"/>
                </a:solidFill>
              </a:rPr>
              <a:t>"480"</a:t>
            </a:r>
            <a:r>
              <a:rPr>
                <a:solidFill>
                  <a:srgbClr val="86DBD3"/>
                </a:solidFill>
              </a:rPr>
              <a:t>&gt;</a:t>
            </a:r>
          </a:p>
        </p:txBody>
      </p:sp>
      <p:sp>
        <p:nvSpPr>
          <p:cNvPr id="7" name="src">
            <a:extLst>
              <a:ext uri="{FF2B5EF4-FFF2-40B4-BE49-F238E27FC236}">
                <a16:creationId xmlns:a16="http://schemas.microsoft.com/office/drawing/2014/main" id="{B9A22BE8-51B0-442C-882E-1DC8798246BC}"/>
              </a:ext>
            </a:extLst>
          </p:cNvPr>
          <p:cNvSpPr>
            <a:spLocks noGrp="1"/>
          </p:cNvSpPr>
          <p:nvPr/>
        </p:nvSpPr>
        <p:spPr>
          <a:xfrm>
            <a:off x="647700" y="4514850"/>
            <a:ext cx="5143500" cy="513874"/>
          </a:xfrm>
          <a:prstGeom prst="rect">
            <a:avLst/>
          </a:prstGeom>
          <a:noFill/>
          <a:ln w="0">
            <a:noFill/>
          </a:ln>
        </p:spPr>
        <p:txBody>
          <a:bodyPr wrap="none" lIns="0" tIns="0" rIns="0" bIns="0">
            <a:noAutofit/>
          </a:bodyPr>
          <a:lstStyle/>
          <a:p>
            <a:pPr>
              <a:defRPr sz="2775" b="1">
                <a:solidFill>
                  <a:srgbClr val="D3F879"/>
                </a:solidFill>
                <a:latin typeface="DejaVu Sans"/>
                <a:ea typeface="DejaVu Sans"/>
                <a:cs typeface="DejaVu Sans"/>
              </a:defRPr>
            </a:pPr>
            <a:r>
              <a:rPr sz="2775" b="1">
                <a:solidFill>
                  <a:srgbClr val="D3F879"/>
                </a:solidFill>
                <a:latin typeface="DejaVu Sans"/>
                <a:ea typeface="DejaVu Sans"/>
                <a:cs typeface="DejaVu Sans"/>
              </a:rPr>
              <a:t>src</a:t>
            </a:r>
          </a:p>
        </p:txBody>
      </p:sp>
      <p:sp>
        <p:nvSpPr>
          <p:cNvPr id="8" name="Путь к файлу изображения">
            <a:extLst>
              <a:ext uri="{FF2B5EF4-FFF2-40B4-BE49-F238E27FC236}">
                <a16:creationId xmlns:a16="http://schemas.microsoft.com/office/drawing/2014/main" id="{156ECE23-00C3-4FA4-A9B7-5F04F31FCD9F}"/>
              </a:ext>
            </a:extLst>
          </p:cNvPr>
          <p:cNvSpPr>
            <a:spLocks noGrp="1"/>
          </p:cNvSpPr>
          <p:nvPr/>
        </p:nvSpPr>
        <p:spPr>
          <a:xfrm>
            <a:off x="647700" y="5114449"/>
            <a:ext cx="514350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Путь к файлу изображения</a:t>
            </a:r>
          </a:p>
        </p:txBody>
      </p:sp>
      <p:sp>
        <p:nvSpPr>
          <p:cNvPr id="9" name="alt">
            <a:extLst>
              <a:ext uri="{FF2B5EF4-FFF2-40B4-BE49-F238E27FC236}">
                <a16:creationId xmlns:a16="http://schemas.microsoft.com/office/drawing/2014/main" id="{AB2A0E0C-65FD-408E-B263-45DB22F0FFF1}"/>
              </a:ext>
            </a:extLst>
          </p:cNvPr>
          <p:cNvSpPr>
            <a:spLocks noGrp="1"/>
          </p:cNvSpPr>
          <p:nvPr/>
        </p:nvSpPr>
        <p:spPr>
          <a:xfrm>
            <a:off x="6296025" y="4514850"/>
            <a:ext cx="5238750" cy="513874"/>
          </a:xfrm>
          <a:prstGeom prst="rect">
            <a:avLst/>
          </a:prstGeom>
          <a:noFill/>
          <a:ln w="0">
            <a:noFill/>
          </a:ln>
        </p:spPr>
        <p:txBody>
          <a:bodyPr wrap="none" lIns="0" tIns="0" rIns="0" bIns="0">
            <a:noAutofit/>
          </a:bodyPr>
          <a:lstStyle/>
          <a:p>
            <a:pPr>
              <a:defRPr sz="2775" b="1">
                <a:solidFill>
                  <a:srgbClr val="F0C5A6"/>
                </a:solidFill>
                <a:latin typeface="DejaVu Sans"/>
                <a:ea typeface="DejaVu Sans"/>
                <a:cs typeface="DejaVu Sans"/>
              </a:defRPr>
            </a:pPr>
            <a:r>
              <a:rPr sz="2775" b="1">
                <a:solidFill>
                  <a:srgbClr val="F0C5A6"/>
                </a:solidFill>
                <a:latin typeface="DejaVu Sans"/>
                <a:ea typeface="DejaVu Sans"/>
                <a:cs typeface="DejaVu Sans"/>
              </a:rPr>
              <a:t>alt</a:t>
            </a:r>
          </a:p>
        </p:txBody>
      </p:sp>
      <p:sp>
        <p:nvSpPr>
          <p:cNvPr id="10" name="Текстовая альтернатива изображению">
            <a:extLst>
              <a:ext uri="{FF2B5EF4-FFF2-40B4-BE49-F238E27FC236}">
                <a16:creationId xmlns:a16="http://schemas.microsoft.com/office/drawing/2014/main" id="{C5FB0707-A1FC-44B9-A2DB-8AB42E61D29C}"/>
              </a:ext>
            </a:extLst>
          </p:cNvPr>
          <p:cNvSpPr>
            <a:spLocks noGrp="1"/>
          </p:cNvSpPr>
          <p:nvPr/>
        </p:nvSpPr>
        <p:spPr>
          <a:xfrm>
            <a:off x="6296025" y="5114449"/>
            <a:ext cx="523875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Текстовая альтернатива изображению</a:t>
            </a:r>
          </a:p>
        </p:txBody>
      </p:sp>
      <p:sp>
        <p:nvSpPr>
          <p:cNvPr id="11" name="The img element has no closing tag.">
            <a:extLst>
              <a:ext uri="{FF2B5EF4-FFF2-40B4-BE49-F238E27FC236}">
                <a16:creationId xmlns:a16="http://schemas.microsoft.com/office/drawing/2014/main" id="{B97021B3-04B9-4EDD-8CDF-FBF1B0DDE520}"/>
              </a:ext>
            </a:extLst>
          </p:cNvPr>
          <p:cNvSpPr>
            <a:spLocks noGrp="1"/>
          </p:cNvSpPr>
          <p:nvPr/>
        </p:nvSpPr>
        <p:spPr>
          <a:xfrm>
            <a:off x="638175" y="5867400"/>
            <a:ext cx="10915650" cy="371475"/>
          </a:xfrm>
          <a:prstGeom prst="rect">
            <a:avLst/>
          </a:prstGeom>
          <a:noFill/>
          <a:ln w="0">
            <a:noFill/>
          </a:ln>
        </p:spPr>
        <p:txBody>
          <a:bodyPr wrap="none" lIns="0" tIns="0" rIns="0" bIns="0">
            <a:noAutofit/>
          </a:bodyPr>
          <a:lstStyle/>
          <a:p>
            <a:pPr>
              <a:defRPr sz="1875" b="1">
                <a:solidFill>
                  <a:srgbClr val="F5F5EE"/>
                </a:solidFill>
                <a:latin typeface="DejaVu Sans"/>
                <a:ea typeface="DejaVu Sans"/>
                <a:cs typeface="DejaVu Sans"/>
              </a:defRPr>
            </a:pPr>
            <a:r>
              <a:rPr sz="1875" b="1">
                <a:solidFill>
                  <a:srgbClr val="F5F5EE"/>
                </a:solidFill>
                <a:latin typeface="DejaVu Sans"/>
                <a:ea typeface="DejaVu Sans"/>
                <a:cs typeface="DejaVu Sans"/>
              </a:rPr>
              <a:t>The img element has no closing tag.</a:t>
            </a:r>
          </a:p>
        </p:txBody>
      </p:sp>
    </p:spTree>
    <p:extLst>
      <p:ext uri="{BB962C8B-B14F-4D97-AF65-F5344CB8AC3E}">
        <p14:creationId xmlns:p14="http://schemas.microsoft.com/office/powerpoint/2010/main" val="1987015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16" name="Lists">
            <a:extLst>
              <a:ext uri="{FF2B5EF4-FFF2-40B4-BE49-F238E27FC236}">
                <a16:creationId xmlns:a16="http://schemas.microsoft.com/office/drawing/2014/main" id="{BB4E761E-D0EB-4B52-9F3B-67D72B5BA0D8}"/>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Lists</a:t>
            </a:r>
          </a:p>
        </p:txBody>
      </p:sp>
      <p:sp>
        <p:nvSpPr>
          <p:cNvPr id="2" name="ul для перечня, ol для последовательности, li для пункта">
            <a:extLst>
              <a:ext uri="{FF2B5EF4-FFF2-40B4-BE49-F238E27FC236}">
                <a16:creationId xmlns:a16="http://schemas.microsoft.com/office/drawing/2014/main" id="{7ED2C2A5-6F9A-4335-88CD-9A0139F799E9}"/>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ul для перечня, ol для последовательности, li для пункта</a:t>
            </a:r>
          </a:p>
        </p:txBody>
      </p:sp>
      <p:sp>
        <p:nvSpPr>
          <p:cNvPr id="3" name="13">
            <a:extLst>
              <a:ext uri="{FF2B5EF4-FFF2-40B4-BE49-F238E27FC236}">
                <a16:creationId xmlns:a16="http://schemas.microsoft.com/office/drawing/2014/main" id="{428AD5F9-D2D0-413C-AC55-DF02FDA09DC3}"/>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13</a:t>
            </a:r>
          </a:p>
        </p:txBody>
      </p:sp>
      <p:sp>
        <p:nvSpPr>
          <p:cNvPr id="4" name="Student clubs">
            <a:extLst>
              <a:ext uri="{FF2B5EF4-FFF2-40B4-BE49-F238E27FC236}">
                <a16:creationId xmlns:a16="http://schemas.microsoft.com/office/drawing/2014/main" id="{78989158-5736-4F78-B50A-E3E464E751A6}"/>
              </a:ext>
            </a:extLst>
          </p:cNvPr>
          <p:cNvSpPr>
            <a:spLocks noGrp="1"/>
          </p:cNvSpPr>
          <p:nvPr/>
        </p:nvSpPr>
        <p:spPr>
          <a:xfrm>
            <a:off x="647700" y="2066925"/>
            <a:ext cx="5191125" cy="447675"/>
          </a:xfrm>
          <a:prstGeom prst="rect">
            <a:avLst/>
          </a:prstGeom>
          <a:noFill/>
          <a:ln w="0">
            <a:noFill/>
          </a:ln>
        </p:spPr>
        <p:txBody>
          <a:bodyPr wrap="none" lIns="0" tIns="0" rIns="0" bIns="0">
            <a:noAutofit/>
          </a:bodyPr>
          <a:lstStyle/>
          <a:p>
            <a:pPr>
              <a:defRPr sz="2400" b="1">
                <a:solidFill>
                  <a:srgbClr val="F5F5EE"/>
                </a:solidFill>
                <a:latin typeface="DejaVu Sans"/>
                <a:ea typeface="DejaVu Sans"/>
                <a:cs typeface="DejaVu Sans"/>
              </a:defRPr>
            </a:pPr>
            <a:r>
              <a:rPr sz="2400" b="1">
                <a:solidFill>
                  <a:srgbClr val="F5F5EE"/>
                </a:solidFill>
                <a:latin typeface="DejaVu Sans"/>
                <a:ea typeface="DejaVu Sans"/>
                <a:cs typeface="DejaVu Sans"/>
              </a:rPr>
              <a:t>Student clubs</a:t>
            </a:r>
          </a:p>
        </p:txBody>
      </p:sp>
      <p:sp>
        <p:nvSpPr>
          <p:cNvPr id="5" name="&lt;ul&gt;">
            <a:extLst>
              <a:ext uri="{FF2B5EF4-FFF2-40B4-BE49-F238E27FC236}">
                <a16:creationId xmlns:a16="http://schemas.microsoft.com/office/drawing/2014/main" id="{CC575BED-6109-4DF7-B0B3-30DEDC3DDC8E}"/>
              </a:ext>
            </a:extLst>
          </p:cNvPr>
          <p:cNvSpPr>
            <a:spLocks noGrp="1"/>
          </p:cNvSpPr>
          <p:nvPr/>
        </p:nvSpPr>
        <p:spPr>
          <a:xfrm>
            <a:off x="647700" y="2781300"/>
            <a:ext cx="5191125" cy="514350"/>
          </a:xfrm>
          <a:prstGeom prst="rect">
            <a:avLst/>
          </a:prstGeom>
          <a:noFill/>
          <a:ln w="0">
            <a:noFill/>
          </a:ln>
        </p:spPr>
        <p:txBody>
          <a:bodyPr wrap="none" lIns="0" tIns="0" rIns="0" bIns="0">
            <a:noAutofit/>
          </a:bodyPr>
          <a:lstStyle/>
          <a:p>
            <a:pPr>
              <a:defRPr sz="2100" b="0">
                <a:solidFill>
                  <a:srgbClr val="F5F5EE"/>
                </a:solidFill>
                <a:latin typeface="DejaVu Sans Mono"/>
                <a:ea typeface="DejaVu Sans Mono"/>
                <a:cs typeface="DejaVu Sans Mono"/>
              </a:defRPr>
            </a:pPr>
            <a:r>
              <a:rPr>
                <a:solidFill>
                  <a:srgbClr val="86DBD3"/>
                </a:solidFill>
              </a:rPr>
              <a:t>&lt;ul&gt;</a:t>
            </a:r>
          </a:p>
        </p:txBody>
      </p:sp>
      <p:sp>
        <p:nvSpPr>
          <p:cNvPr id="6" name="  &lt;li&gt;Coding club&lt;/li&gt;">
            <a:extLst>
              <a:ext uri="{FF2B5EF4-FFF2-40B4-BE49-F238E27FC236}">
                <a16:creationId xmlns:a16="http://schemas.microsoft.com/office/drawing/2014/main" id="{9FF55C86-28CE-4053-A985-75CBBF008E33}"/>
              </a:ext>
            </a:extLst>
          </p:cNvPr>
          <p:cNvSpPr>
            <a:spLocks noGrp="1"/>
          </p:cNvSpPr>
          <p:nvPr/>
        </p:nvSpPr>
        <p:spPr>
          <a:xfrm>
            <a:off x="647700" y="3267075"/>
            <a:ext cx="5191125" cy="514350"/>
          </a:xfrm>
          <a:prstGeom prst="rect">
            <a:avLst/>
          </a:prstGeom>
          <a:noFill/>
          <a:ln w="0">
            <a:noFill/>
          </a:ln>
        </p:spPr>
        <p:txBody>
          <a:bodyPr wrap="none" lIns="0" tIns="0" rIns="0" bIns="0">
            <a:noAutofit/>
          </a:bodyPr>
          <a:lstStyle/>
          <a:p>
            <a:pPr>
              <a:defRPr sz="2100" b="0">
                <a:solidFill>
                  <a:srgbClr val="F5F5EE"/>
                </a:solidFill>
                <a:latin typeface="DejaVu Sans Mono"/>
                <a:ea typeface="DejaVu Sans Mono"/>
                <a:cs typeface="DejaVu Sans Mono"/>
              </a:defRPr>
            </a:pPr>
            <a:r>
              <a:rPr>
                <a:solidFill>
                  <a:srgbClr val="F5F5EE"/>
                </a:solidFill>
              </a:rPr>
              <a:t>  </a:t>
            </a:r>
            <a:r>
              <a:rPr>
                <a:solidFill>
                  <a:srgbClr val="86DBD3"/>
                </a:solidFill>
              </a:rPr>
              <a:t>&lt;li&gt;</a:t>
            </a:r>
            <a:r>
              <a:rPr>
                <a:solidFill>
                  <a:srgbClr val="F5F5EE"/>
                </a:solidFill>
              </a:rPr>
              <a:t>Coding club</a:t>
            </a:r>
            <a:r>
              <a:rPr>
                <a:solidFill>
                  <a:srgbClr val="86DBD3"/>
                </a:solidFill>
              </a:rPr>
              <a:t>&lt;/li&gt;</a:t>
            </a:r>
          </a:p>
        </p:txBody>
      </p:sp>
      <p:sp>
        <p:nvSpPr>
          <p:cNvPr id="7" name="  &lt;li&gt;Debate club&lt;/li&gt;">
            <a:extLst>
              <a:ext uri="{FF2B5EF4-FFF2-40B4-BE49-F238E27FC236}">
                <a16:creationId xmlns:a16="http://schemas.microsoft.com/office/drawing/2014/main" id="{98BC7C21-02BC-4E37-88B7-6D4A9B8B82A6}"/>
              </a:ext>
            </a:extLst>
          </p:cNvPr>
          <p:cNvSpPr>
            <a:spLocks noGrp="1"/>
          </p:cNvSpPr>
          <p:nvPr/>
        </p:nvSpPr>
        <p:spPr>
          <a:xfrm>
            <a:off x="647700" y="3752850"/>
            <a:ext cx="5191125" cy="514350"/>
          </a:xfrm>
          <a:prstGeom prst="rect">
            <a:avLst/>
          </a:prstGeom>
          <a:noFill/>
          <a:ln w="0">
            <a:noFill/>
          </a:ln>
        </p:spPr>
        <p:txBody>
          <a:bodyPr wrap="none" lIns="0" tIns="0" rIns="0" bIns="0">
            <a:noAutofit/>
          </a:bodyPr>
          <a:lstStyle/>
          <a:p>
            <a:pPr>
              <a:defRPr sz="2100" b="0">
                <a:solidFill>
                  <a:srgbClr val="F5F5EE"/>
                </a:solidFill>
                <a:latin typeface="DejaVu Sans Mono"/>
                <a:ea typeface="DejaVu Sans Mono"/>
                <a:cs typeface="DejaVu Sans Mono"/>
              </a:defRPr>
            </a:pPr>
            <a:r>
              <a:rPr>
                <a:solidFill>
                  <a:srgbClr val="F5F5EE"/>
                </a:solidFill>
              </a:rPr>
              <a:t>  </a:t>
            </a:r>
            <a:r>
              <a:rPr>
                <a:solidFill>
                  <a:srgbClr val="86DBD3"/>
                </a:solidFill>
              </a:rPr>
              <a:t>&lt;li&gt;</a:t>
            </a:r>
            <a:r>
              <a:rPr>
                <a:solidFill>
                  <a:srgbClr val="F5F5EE"/>
                </a:solidFill>
              </a:rPr>
              <a:t>Debate club</a:t>
            </a:r>
            <a:r>
              <a:rPr>
                <a:solidFill>
                  <a:srgbClr val="86DBD3"/>
                </a:solidFill>
              </a:rPr>
              <a:t>&lt;/li&gt;</a:t>
            </a:r>
          </a:p>
        </p:txBody>
      </p:sp>
      <p:sp>
        <p:nvSpPr>
          <p:cNvPr id="8" name="&lt;/ul&gt;">
            <a:extLst>
              <a:ext uri="{FF2B5EF4-FFF2-40B4-BE49-F238E27FC236}">
                <a16:creationId xmlns:a16="http://schemas.microsoft.com/office/drawing/2014/main" id="{707499C5-703F-4D90-A021-800BD2E2C117}"/>
              </a:ext>
            </a:extLst>
          </p:cNvPr>
          <p:cNvSpPr>
            <a:spLocks noGrp="1"/>
          </p:cNvSpPr>
          <p:nvPr/>
        </p:nvSpPr>
        <p:spPr>
          <a:xfrm>
            <a:off x="647700" y="4238625"/>
            <a:ext cx="5191125" cy="514350"/>
          </a:xfrm>
          <a:prstGeom prst="rect">
            <a:avLst/>
          </a:prstGeom>
          <a:noFill/>
          <a:ln w="0">
            <a:noFill/>
          </a:ln>
        </p:spPr>
        <p:txBody>
          <a:bodyPr wrap="none" lIns="0" tIns="0" rIns="0" bIns="0">
            <a:noAutofit/>
          </a:bodyPr>
          <a:lstStyle/>
          <a:p>
            <a:pPr>
              <a:defRPr sz="2100" b="0">
                <a:solidFill>
                  <a:srgbClr val="F5F5EE"/>
                </a:solidFill>
                <a:latin typeface="DejaVu Sans Mono"/>
                <a:ea typeface="DejaVu Sans Mono"/>
                <a:cs typeface="DejaVu Sans Mono"/>
              </a:defRPr>
            </a:pPr>
            <a:r>
              <a:rPr>
                <a:solidFill>
                  <a:srgbClr val="86DBD3"/>
                </a:solidFill>
              </a:rPr>
              <a:t>&lt;/ul&gt;</a:t>
            </a:r>
          </a:p>
        </p:txBody>
      </p:sp>
      <p:sp>
        <p:nvSpPr>
          <p:cNvPr id="9" name="Steps to join">
            <a:extLst>
              <a:ext uri="{FF2B5EF4-FFF2-40B4-BE49-F238E27FC236}">
                <a16:creationId xmlns:a16="http://schemas.microsoft.com/office/drawing/2014/main" id="{B8E5813E-3E85-4342-B7D1-54473E6878D3}"/>
              </a:ext>
            </a:extLst>
          </p:cNvPr>
          <p:cNvSpPr>
            <a:spLocks noGrp="1"/>
          </p:cNvSpPr>
          <p:nvPr/>
        </p:nvSpPr>
        <p:spPr>
          <a:xfrm>
            <a:off x="6477000" y="2066925"/>
            <a:ext cx="5095875" cy="447675"/>
          </a:xfrm>
          <a:prstGeom prst="rect">
            <a:avLst/>
          </a:prstGeom>
          <a:noFill/>
          <a:ln w="0">
            <a:noFill/>
          </a:ln>
        </p:spPr>
        <p:txBody>
          <a:bodyPr wrap="none" lIns="0" tIns="0" rIns="0" bIns="0">
            <a:noAutofit/>
          </a:bodyPr>
          <a:lstStyle/>
          <a:p>
            <a:pPr>
              <a:defRPr sz="2400" b="1">
                <a:solidFill>
                  <a:srgbClr val="F5F5EE"/>
                </a:solidFill>
                <a:latin typeface="DejaVu Sans"/>
                <a:ea typeface="DejaVu Sans"/>
                <a:cs typeface="DejaVu Sans"/>
              </a:defRPr>
            </a:pPr>
            <a:r>
              <a:rPr sz="2400" b="1">
                <a:solidFill>
                  <a:srgbClr val="F5F5EE"/>
                </a:solidFill>
                <a:latin typeface="DejaVu Sans"/>
                <a:ea typeface="DejaVu Sans"/>
                <a:cs typeface="DejaVu Sans"/>
              </a:rPr>
              <a:t>Steps to join</a:t>
            </a:r>
          </a:p>
        </p:txBody>
      </p:sp>
      <p:sp>
        <p:nvSpPr>
          <p:cNvPr id="10" name="&lt;ol&gt;">
            <a:extLst>
              <a:ext uri="{FF2B5EF4-FFF2-40B4-BE49-F238E27FC236}">
                <a16:creationId xmlns:a16="http://schemas.microsoft.com/office/drawing/2014/main" id="{249FABF6-3D6A-4CB1-BEE8-9D648D813B62}"/>
              </a:ext>
            </a:extLst>
          </p:cNvPr>
          <p:cNvSpPr>
            <a:spLocks noGrp="1"/>
          </p:cNvSpPr>
          <p:nvPr/>
        </p:nvSpPr>
        <p:spPr>
          <a:xfrm>
            <a:off x="6477000" y="2781300"/>
            <a:ext cx="5095875" cy="5143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86DBD3"/>
                </a:solidFill>
              </a:rPr>
              <a:t>&lt;ol&gt;</a:t>
            </a:r>
          </a:p>
        </p:txBody>
      </p:sp>
      <p:sp>
        <p:nvSpPr>
          <p:cNvPr id="11" name="  &lt;li&gt;Choose a club.&lt;/li&gt;">
            <a:extLst>
              <a:ext uri="{FF2B5EF4-FFF2-40B4-BE49-F238E27FC236}">
                <a16:creationId xmlns:a16="http://schemas.microsoft.com/office/drawing/2014/main" id="{7F5139C5-1E06-4242-A9AE-F737456414F9}"/>
              </a:ext>
            </a:extLst>
          </p:cNvPr>
          <p:cNvSpPr>
            <a:spLocks noGrp="1"/>
          </p:cNvSpPr>
          <p:nvPr/>
        </p:nvSpPr>
        <p:spPr>
          <a:xfrm>
            <a:off x="6477000" y="3267075"/>
            <a:ext cx="5095875" cy="5143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F5F5EE"/>
                </a:solidFill>
              </a:rPr>
              <a:t>  </a:t>
            </a:r>
            <a:r>
              <a:rPr>
                <a:solidFill>
                  <a:srgbClr val="86DBD3"/>
                </a:solidFill>
              </a:rPr>
              <a:t>&lt;li&gt;</a:t>
            </a:r>
            <a:r>
              <a:rPr>
                <a:solidFill>
                  <a:srgbClr val="F5F5EE"/>
                </a:solidFill>
              </a:rPr>
              <a:t>Choose a club.</a:t>
            </a:r>
            <a:r>
              <a:rPr>
                <a:solidFill>
                  <a:srgbClr val="86DBD3"/>
                </a:solidFill>
              </a:rPr>
              <a:t>&lt;/li&gt;</a:t>
            </a:r>
          </a:p>
        </p:txBody>
      </p:sp>
      <p:sp>
        <p:nvSpPr>
          <p:cNvPr id="12" name="  &lt;li&gt;Contact the team.&lt;/li&gt;">
            <a:extLst>
              <a:ext uri="{FF2B5EF4-FFF2-40B4-BE49-F238E27FC236}">
                <a16:creationId xmlns:a16="http://schemas.microsoft.com/office/drawing/2014/main" id="{97A17D8F-C938-45D0-AA31-D0587D2CCA1A}"/>
              </a:ext>
            </a:extLst>
          </p:cNvPr>
          <p:cNvSpPr>
            <a:spLocks noGrp="1"/>
          </p:cNvSpPr>
          <p:nvPr/>
        </p:nvSpPr>
        <p:spPr>
          <a:xfrm>
            <a:off x="6477000" y="3752850"/>
            <a:ext cx="5095875" cy="5143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F5F5EE"/>
                </a:solidFill>
              </a:rPr>
              <a:t>  </a:t>
            </a:r>
            <a:r>
              <a:rPr>
                <a:solidFill>
                  <a:srgbClr val="86DBD3"/>
                </a:solidFill>
              </a:rPr>
              <a:t>&lt;li&gt;</a:t>
            </a:r>
            <a:r>
              <a:rPr>
                <a:solidFill>
                  <a:srgbClr val="F5F5EE"/>
                </a:solidFill>
              </a:rPr>
              <a:t>Contact the team.</a:t>
            </a:r>
            <a:r>
              <a:rPr>
                <a:solidFill>
                  <a:srgbClr val="86DBD3"/>
                </a:solidFill>
              </a:rPr>
              <a:t>&lt;/li&gt;</a:t>
            </a:r>
          </a:p>
        </p:txBody>
      </p:sp>
      <p:sp>
        <p:nvSpPr>
          <p:cNvPr id="13" name="&lt;/ol&gt;">
            <a:extLst>
              <a:ext uri="{FF2B5EF4-FFF2-40B4-BE49-F238E27FC236}">
                <a16:creationId xmlns:a16="http://schemas.microsoft.com/office/drawing/2014/main" id="{CCC224BC-D6CD-4768-948E-F7F646AC15E3}"/>
              </a:ext>
            </a:extLst>
          </p:cNvPr>
          <p:cNvSpPr>
            <a:spLocks noGrp="1"/>
          </p:cNvSpPr>
          <p:nvPr/>
        </p:nvSpPr>
        <p:spPr>
          <a:xfrm>
            <a:off x="6477000" y="4238625"/>
            <a:ext cx="5095875" cy="514350"/>
          </a:xfrm>
          <a:prstGeom prst="rect">
            <a:avLst/>
          </a:prstGeom>
          <a:noFill/>
          <a:ln w="0">
            <a:noFill/>
          </a:ln>
        </p:spPr>
        <p:txBody>
          <a:bodyPr wrap="none" lIns="0" tIns="0" rIns="0" bIns="0">
            <a:noAutofit/>
          </a:bodyPr>
          <a:lstStyle/>
          <a:p>
            <a:pPr>
              <a:defRPr sz="1875" b="0">
                <a:solidFill>
                  <a:srgbClr val="F5F5EE"/>
                </a:solidFill>
                <a:latin typeface="DejaVu Sans Mono"/>
                <a:ea typeface="DejaVu Sans Mono"/>
                <a:cs typeface="DejaVu Sans Mono"/>
              </a:defRPr>
            </a:pPr>
            <a:r>
              <a:rPr>
                <a:solidFill>
                  <a:srgbClr val="86DBD3"/>
                </a:solidFill>
              </a:rPr>
              <a:t>&lt;/ol&gt;</a:t>
            </a:r>
          </a:p>
        </p:txBody>
      </p:sp>
      <p:sp>
        <p:nvSpPr>
          <p:cNvPr id="14" name="Both list types use li for each item.">
            <a:extLst>
              <a:ext uri="{FF2B5EF4-FFF2-40B4-BE49-F238E27FC236}">
                <a16:creationId xmlns:a16="http://schemas.microsoft.com/office/drawing/2014/main" id="{53F3AB89-C012-4E56-832F-162C71BE3819}"/>
              </a:ext>
            </a:extLst>
          </p:cNvPr>
          <p:cNvSpPr>
            <a:spLocks noGrp="1"/>
          </p:cNvSpPr>
          <p:nvPr/>
        </p:nvSpPr>
        <p:spPr>
          <a:xfrm>
            <a:off x="628650" y="5648325"/>
            <a:ext cx="10934700" cy="381000"/>
          </a:xfrm>
          <a:prstGeom prst="rect">
            <a:avLst/>
          </a:prstGeom>
          <a:noFill/>
          <a:ln w="0">
            <a:noFill/>
          </a:ln>
        </p:spPr>
        <p:txBody>
          <a:bodyPr wrap="none" lIns="0" tIns="0" rIns="0" bIns="0">
            <a:noAutofit/>
          </a:bodyPr>
          <a:lstStyle/>
          <a:p>
            <a:pPr>
              <a:defRPr sz="1875" b="1">
                <a:solidFill>
                  <a:srgbClr val="D3F879"/>
                </a:solidFill>
                <a:latin typeface="DejaVu Sans"/>
                <a:ea typeface="DejaVu Sans"/>
                <a:cs typeface="DejaVu Sans"/>
              </a:defRPr>
            </a:pPr>
            <a:r>
              <a:rPr sz="1875" b="1">
                <a:solidFill>
                  <a:srgbClr val="D3F879"/>
                </a:solidFill>
                <a:latin typeface="DejaVu Sans"/>
                <a:ea typeface="DejaVu Sans"/>
                <a:cs typeface="DejaVu Sans"/>
              </a:rPr>
              <a:t>Both list types use li for each item.</a:t>
            </a:r>
          </a:p>
        </p:txBody>
      </p:sp>
      <p:sp>
        <p:nvSpPr>
          <p:cNvPr id="15" name="Каждый пункт списка записывается внутри li.">
            <a:extLst>
              <a:ext uri="{FF2B5EF4-FFF2-40B4-BE49-F238E27FC236}">
                <a16:creationId xmlns:a16="http://schemas.microsoft.com/office/drawing/2014/main" id="{89C8EB03-7244-48A4-8464-47FED88AA9EE}"/>
              </a:ext>
            </a:extLst>
          </p:cNvPr>
          <p:cNvSpPr>
            <a:spLocks noGrp="1"/>
          </p:cNvSpPr>
          <p:nvPr/>
        </p:nvSpPr>
        <p:spPr>
          <a:xfrm>
            <a:off x="628650" y="6067425"/>
            <a:ext cx="10934700" cy="342900"/>
          </a:xfrm>
          <a:prstGeom prst="rect">
            <a:avLst/>
          </a:prstGeom>
          <a:noFill/>
          <a:ln w="0">
            <a:noFill/>
          </a:ln>
        </p:spPr>
        <p:txBody>
          <a:bodyPr wrap="none" lIns="0" tIns="0" rIns="0" bIns="0">
            <a:noAutofit/>
          </a:bodyPr>
          <a:lstStyle/>
          <a:p>
            <a:pPr>
              <a:defRPr sz="1425" b="0">
                <a:solidFill>
                  <a:srgbClr val="ABB7B8"/>
                </a:solidFill>
                <a:latin typeface="DejaVu Sans"/>
                <a:ea typeface="DejaVu Sans"/>
                <a:cs typeface="DejaVu Sans"/>
              </a:defRPr>
            </a:pPr>
            <a:r>
              <a:rPr sz="1425" b="0">
                <a:solidFill>
                  <a:srgbClr val="ABB7B8"/>
                </a:solidFill>
                <a:latin typeface="DejaVu Sans"/>
                <a:ea typeface="DejaVu Sans"/>
                <a:cs typeface="DejaVu Sans"/>
              </a:rPr>
              <a:t>Каждый пункт списка записывается внутри li.</a:t>
            </a:r>
          </a:p>
        </p:txBody>
      </p:sp>
    </p:spTree>
    <p:extLst>
      <p:ext uri="{BB962C8B-B14F-4D97-AF65-F5344CB8AC3E}">
        <p14:creationId xmlns:p14="http://schemas.microsoft.com/office/powerpoint/2010/main" val="1494599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18" name="Meaningful page structure">
            <a:extLst>
              <a:ext uri="{FF2B5EF4-FFF2-40B4-BE49-F238E27FC236}">
                <a16:creationId xmlns:a16="http://schemas.microsoft.com/office/drawing/2014/main" id="{730628B3-B0FB-415E-82F0-F831D5391EDB}"/>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Meaningful page structure</a:t>
            </a:r>
          </a:p>
        </p:txBody>
      </p:sp>
      <p:sp>
        <p:nvSpPr>
          <p:cNvPr id="2" name="Семантические элементы объясняют назначение частей страницы">
            <a:extLst>
              <a:ext uri="{FF2B5EF4-FFF2-40B4-BE49-F238E27FC236}">
                <a16:creationId xmlns:a16="http://schemas.microsoft.com/office/drawing/2014/main" id="{4EEDCECC-5273-4336-A427-5FF825CF1AB2}"/>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Семантические элементы объясняют назначение частей страницы</a:t>
            </a:r>
          </a:p>
        </p:txBody>
      </p:sp>
      <p:sp>
        <p:nvSpPr>
          <p:cNvPr id="3" name="14">
            <a:extLst>
              <a:ext uri="{FF2B5EF4-FFF2-40B4-BE49-F238E27FC236}">
                <a16:creationId xmlns:a16="http://schemas.microsoft.com/office/drawing/2014/main" id="{60AFDDB2-F9B0-4687-8979-41A52D325A90}"/>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14</a:t>
            </a:r>
          </a:p>
        </p:txBody>
      </p:sp>
      <p:sp>
        <p:nvSpPr>
          <p:cNvPr id="4" name="&lt;header&gt;">
            <a:extLst>
              <a:ext uri="{FF2B5EF4-FFF2-40B4-BE49-F238E27FC236}">
                <a16:creationId xmlns:a16="http://schemas.microsoft.com/office/drawing/2014/main" id="{A0948458-4E22-4136-B97F-24C5AF8F4778}"/>
              </a:ext>
            </a:extLst>
          </p:cNvPr>
          <p:cNvSpPr>
            <a:spLocks noGrp="1"/>
          </p:cNvSpPr>
          <p:nvPr/>
        </p:nvSpPr>
        <p:spPr>
          <a:xfrm>
            <a:off x="638175" y="2038350"/>
            <a:ext cx="6619875" cy="457200"/>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86DBD3"/>
                </a:solidFill>
              </a:rPr>
              <a:t>&lt;header&gt;</a:t>
            </a:r>
          </a:p>
        </p:txBody>
      </p:sp>
      <p:sp>
        <p:nvSpPr>
          <p:cNvPr id="5" name="  &lt;h1&gt;Ala-Too&lt;/h1&gt;">
            <a:extLst>
              <a:ext uri="{FF2B5EF4-FFF2-40B4-BE49-F238E27FC236}">
                <a16:creationId xmlns:a16="http://schemas.microsoft.com/office/drawing/2014/main" id="{1C60870E-3F13-4525-8A46-31FA44BBEFE0}"/>
              </a:ext>
            </a:extLst>
          </p:cNvPr>
          <p:cNvSpPr>
            <a:spLocks noGrp="1"/>
          </p:cNvSpPr>
          <p:nvPr/>
        </p:nvSpPr>
        <p:spPr>
          <a:xfrm>
            <a:off x="638175" y="2466975"/>
            <a:ext cx="6619875" cy="457200"/>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F5F5EE"/>
                </a:solidFill>
              </a:rPr>
              <a:t>  </a:t>
            </a:r>
            <a:r>
              <a:rPr>
                <a:solidFill>
                  <a:srgbClr val="86DBD3"/>
                </a:solidFill>
              </a:rPr>
              <a:t>&lt;h1&gt;</a:t>
            </a:r>
            <a:r>
              <a:rPr>
                <a:solidFill>
                  <a:srgbClr val="F5F5EE"/>
                </a:solidFill>
              </a:rPr>
              <a:t>Ala-Too</a:t>
            </a:r>
            <a:r>
              <a:rPr>
                <a:solidFill>
                  <a:srgbClr val="86DBD3"/>
                </a:solidFill>
              </a:rPr>
              <a:t>&lt;/h1&gt;</a:t>
            </a:r>
          </a:p>
        </p:txBody>
      </p:sp>
      <p:sp>
        <p:nvSpPr>
          <p:cNvPr id="6" name="&lt;/header&gt;">
            <a:extLst>
              <a:ext uri="{FF2B5EF4-FFF2-40B4-BE49-F238E27FC236}">
                <a16:creationId xmlns:a16="http://schemas.microsoft.com/office/drawing/2014/main" id="{205E4EFD-5E28-455C-ADA2-9FB7F47B3B7C}"/>
              </a:ext>
            </a:extLst>
          </p:cNvPr>
          <p:cNvSpPr>
            <a:spLocks noGrp="1"/>
          </p:cNvSpPr>
          <p:nvPr/>
        </p:nvSpPr>
        <p:spPr>
          <a:xfrm>
            <a:off x="638175" y="2895600"/>
            <a:ext cx="6619875" cy="457200"/>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86DBD3"/>
                </a:solidFill>
              </a:rPr>
              <a:t>&lt;/header&gt;</a:t>
            </a:r>
          </a:p>
        </p:txBody>
      </p:sp>
      <p:sp>
        <p:nvSpPr>
          <p:cNvPr id="7" name="&lt;nav&gt;...&lt;/nav&gt;">
            <a:extLst>
              <a:ext uri="{FF2B5EF4-FFF2-40B4-BE49-F238E27FC236}">
                <a16:creationId xmlns:a16="http://schemas.microsoft.com/office/drawing/2014/main" id="{7564940A-5972-42C3-B193-432551AF5A8D}"/>
              </a:ext>
            </a:extLst>
          </p:cNvPr>
          <p:cNvSpPr>
            <a:spLocks noGrp="1"/>
          </p:cNvSpPr>
          <p:nvPr/>
        </p:nvSpPr>
        <p:spPr>
          <a:xfrm>
            <a:off x="638175" y="3324225"/>
            <a:ext cx="6619875" cy="457200"/>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86DBD3"/>
                </a:solidFill>
              </a:rPr>
              <a:t>&lt;nav&gt;</a:t>
            </a:r>
            <a:r>
              <a:rPr>
                <a:solidFill>
                  <a:srgbClr val="F5F5EE"/>
                </a:solidFill>
              </a:rPr>
              <a:t>...</a:t>
            </a:r>
            <a:r>
              <a:rPr>
                <a:solidFill>
                  <a:srgbClr val="86DBD3"/>
                </a:solidFill>
              </a:rPr>
              <a:t>&lt;/nav&gt;</a:t>
            </a:r>
          </a:p>
        </p:txBody>
      </p:sp>
      <p:sp>
        <p:nvSpPr>
          <p:cNvPr id="8" name="&lt;main&gt;">
            <a:extLst>
              <a:ext uri="{FF2B5EF4-FFF2-40B4-BE49-F238E27FC236}">
                <a16:creationId xmlns:a16="http://schemas.microsoft.com/office/drawing/2014/main" id="{29EFA88F-D0C4-4F83-BDAC-E3E994071DCA}"/>
              </a:ext>
            </a:extLst>
          </p:cNvPr>
          <p:cNvSpPr>
            <a:spLocks noGrp="1"/>
          </p:cNvSpPr>
          <p:nvPr/>
        </p:nvSpPr>
        <p:spPr>
          <a:xfrm>
            <a:off x="638175" y="3752850"/>
            <a:ext cx="6619875" cy="457200"/>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86DBD3"/>
                </a:solidFill>
              </a:rPr>
              <a:t>&lt;main&gt;</a:t>
            </a:r>
          </a:p>
        </p:txBody>
      </p:sp>
      <p:sp>
        <p:nvSpPr>
          <p:cNvPr id="9" name="  &lt;section&gt;...&lt;/section&gt;">
            <a:extLst>
              <a:ext uri="{FF2B5EF4-FFF2-40B4-BE49-F238E27FC236}">
                <a16:creationId xmlns:a16="http://schemas.microsoft.com/office/drawing/2014/main" id="{C8C54C81-D652-446E-99DC-0E11E520FA6D}"/>
              </a:ext>
            </a:extLst>
          </p:cNvPr>
          <p:cNvSpPr>
            <a:spLocks noGrp="1"/>
          </p:cNvSpPr>
          <p:nvPr/>
        </p:nvSpPr>
        <p:spPr>
          <a:xfrm>
            <a:off x="638175" y="4181475"/>
            <a:ext cx="6619875" cy="457200"/>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F5F5EE"/>
                </a:solidFill>
              </a:rPr>
              <a:t>  </a:t>
            </a:r>
            <a:r>
              <a:rPr>
                <a:solidFill>
                  <a:srgbClr val="86DBD3"/>
                </a:solidFill>
              </a:rPr>
              <a:t>&lt;section&gt;</a:t>
            </a:r>
            <a:r>
              <a:rPr>
                <a:solidFill>
                  <a:srgbClr val="F5F5EE"/>
                </a:solidFill>
              </a:rPr>
              <a:t>...</a:t>
            </a:r>
            <a:r>
              <a:rPr>
                <a:solidFill>
                  <a:srgbClr val="86DBD3"/>
                </a:solidFill>
              </a:rPr>
              <a:t>&lt;/section&gt;</a:t>
            </a:r>
          </a:p>
        </p:txBody>
      </p:sp>
      <p:sp>
        <p:nvSpPr>
          <p:cNvPr id="10" name="&lt;/main&gt;">
            <a:extLst>
              <a:ext uri="{FF2B5EF4-FFF2-40B4-BE49-F238E27FC236}">
                <a16:creationId xmlns:a16="http://schemas.microsoft.com/office/drawing/2014/main" id="{95E1B749-8836-4288-AA7D-F6846635C261}"/>
              </a:ext>
            </a:extLst>
          </p:cNvPr>
          <p:cNvSpPr>
            <a:spLocks noGrp="1"/>
          </p:cNvSpPr>
          <p:nvPr/>
        </p:nvSpPr>
        <p:spPr>
          <a:xfrm>
            <a:off x="638175" y="4610100"/>
            <a:ext cx="6619875" cy="457200"/>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86DBD3"/>
                </a:solidFill>
              </a:rPr>
              <a:t>&lt;/main&gt;</a:t>
            </a:r>
          </a:p>
        </p:txBody>
      </p:sp>
      <p:sp>
        <p:nvSpPr>
          <p:cNvPr id="11" name="&lt;footer&gt;...&lt;/footer&gt;">
            <a:extLst>
              <a:ext uri="{FF2B5EF4-FFF2-40B4-BE49-F238E27FC236}">
                <a16:creationId xmlns:a16="http://schemas.microsoft.com/office/drawing/2014/main" id="{D22FABBA-BBA8-4313-8CFE-34035D100C7C}"/>
              </a:ext>
            </a:extLst>
          </p:cNvPr>
          <p:cNvSpPr>
            <a:spLocks noGrp="1"/>
          </p:cNvSpPr>
          <p:nvPr/>
        </p:nvSpPr>
        <p:spPr>
          <a:xfrm>
            <a:off x="638175" y="5038725"/>
            <a:ext cx="6619875" cy="457200"/>
          </a:xfrm>
          <a:prstGeom prst="rect">
            <a:avLst/>
          </a:prstGeom>
          <a:noFill/>
          <a:ln w="0">
            <a:noFill/>
          </a:ln>
        </p:spPr>
        <p:txBody>
          <a:bodyPr wrap="none" lIns="0" tIns="0" rIns="0" bIns="0">
            <a:noAutofit/>
          </a:bodyPr>
          <a:lstStyle/>
          <a:p>
            <a:pPr>
              <a:defRPr sz="2025" b="0">
                <a:solidFill>
                  <a:srgbClr val="F5F5EE"/>
                </a:solidFill>
                <a:latin typeface="DejaVu Sans Mono"/>
                <a:ea typeface="DejaVu Sans Mono"/>
                <a:cs typeface="DejaVu Sans Mono"/>
              </a:defRPr>
            </a:pPr>
            <a:r>
              <a:rPr>
                <a:solidFill>
                  <a:srgbClr val="86DBD3"/>
                </a:solidFill>
              </a:rPr>
              <a:t>&lt;footer&gt;</a:t>
            </a:r>
            <a:r>
              <a:rPr>
                <a:solidFill>
                  <a:srgbClr val="F5F5EE"/>
                </a:solidFill>
              </a:rPr>
              <a:t>...</a:t>
            </a:r>
            <a:r>
              <a:rPr>
                <a:solidFill>
                  <a:srgbClr val="86DBD3"/>
                </a:solidFill>
              </a:rPr>
              <a:t>&lt;/footer&gt;</a:t>
            </a:r>
          </a:p>
        </p:txBody>
      </p:sp>
      <p:sp>
        <p:nvSpPr>
          <p:cNvPr id="12" name="header / nav">
            <a:extLst>
              <a:ext uri="{FF2B5EF4-FFF2-40B4-BE49-F238E27FC236}">
                <a16:creationId xmlns:a16="http://schemas.microsoft.com/office/drawing/2014/main" id="{934B1DC7-75E4-4EFA-9EDD-871E2AF6F789}"/>
              </a:ext>
            </a:extLst>
          </p:cNvPr>
          <p:cNvSpPr>
            <a:spLocks noGrp="1"/>
          </p:cNvSpPr>
          <p:nvPr/>
        </p:nvSpPr>
        <p:spPr>
          <a:xfrm>
            <a:off x="7848600" y="2152650"/>
            <a:ext cx="3733800" cy="385286"/>
          </a:xfrm>
          <a:prstGeom prst="rect">
            <a:avLst/>
          </a:prstGeom>
          <a:noFill/>
          <a:ln w="0">
            <a:noFill/>
          </a:ln>
        </p:spPr>
        <p:txBody>
          <a:bodyPr wrap="none" lIns="0" tIns="0" rIns="0" bIns="0">
            <a:noAutofit/>
          </a:bodyPr>
          <a:lstStyle/>
          <a:p>
            <a:pPr>
              <a:defRPr sz="2025" b="1">
                <a:solidFill>
                  <a:srgbClr val="86DBD3"/>
                </a:solidFill>
                <a:latin typeface="DejaVu Sans"/>
                <a:ea typeface="DejaVu Sans"/>
                <a:cs typeface="DejaVu Sans"/>
              </a:defRPr>
            </a:pPr>
            <a:r>
              <a:rPr sz="2025" b="1">
                <a:solidFill>
                  <a:srgbClr val="86DBD3"/>
                </a:solidFill>
                <a:latin typeface="DejaVu Sans"/>
                <a:ea typeface="DejaVu Sans"/>
                <a:cs typeface="DejaVu Sans"/>
              </a:rPr>
              <a:t>header / nav</a:t>
            </a:r>
          </a:p>
        </p:txBody>
      </p:sp>
      <p:sp>
        <p:nvSpPr>
          <p:cNvPr id="13" name="Вступление и основная навигация">
            <a:extLst>
              <a:ext uri="{FF2B5EF4-FFF2-40B4-BE49-F238E27FC236}">
                <a16:creationId xmlns:a16="http://schemas.microsoft.com/office/drawing/2014/main" id="{881AC76F-9E39-4192-A986-E0058C19949F}"/>
              </a:ext>
            </a:extLst>
          </p:cNvPr>
          <p:cNvSpPr>
            <a:spLocks noGrp="1"/>
          </p:cNvSpPr>
          <p:nvPr/>
        </p:nvSpPr>
        <p:spPr>
          <a:xfrm>
            <a:off x="7848600" y="2623661"/>
            <a:ext cx="373380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Вступление и основная навигация</a:t>
            </a:r>
          </a:p>
        </p:txBody>
      </p:sp>
      <p:sp>
        <p:nvSpPr>
          <p:cNvPr id="14" name="main / section">
            <a:extLst>
              <a:ext uri="{FF2B5EF4-FFF2-40B4-BE49-F238E27FC236}">
                <a16:creationId xmlns:a16="http://schemas.microsoft.com/office/drawing/2014/main" id="{F3EB6445-99F7-4C98-8277-E2DA4599F86B}"/>
              </a:ext>
            </a:extLst>
          </p:cNvPr>
          <p:cNvSpPr>
            <a:spLocks noGrp="1"/>
          </p:cNvSpPr>
          <p:nvPr/>
        </p:nvSpPr>
        <p:spPr>
          <a:xfrm>
            <a:off x="7848600" y="3533775"/>
            <a:ext cx="3733800" cy="385286"/>
          </a:xfrm>
          <a:prstGeom prst="rect">
            <a:avLst/>
          </a:prstGeom>
          <a:noFill/>
          <a:ln w="0">
            <a:noFill/>
          </a:ln>
        </p:spPr>
        <p:txBody>
          <a:bodyPr wrap="none" lIns="0" tIns="0" rIns="0" bIns="0">
            <a:noAutofit/>
          </a:bodyPr>
          <a:lstStyle/>
          <a:p>
            <a:pPr>
              <a:defRPr sz="2025" b="1">
                <a:solidFill>
                  <a:srgbClr val="D3F879"/>
                </a:solidFill>
                <a:latin typeface="DejaVu Sans"/>
                <a:ea typeface="DejaVu Sans"/>
                <a:cs typeface="DejaVu Sans"/>
              </a:defRPr>
            </a:pPr>
            <a:r>
              <a:rPr sz="2025" b="1">
                <a:solidFill>
                  <a:srgbClr val="D3F879"/>
                </a:solidFill>
                <a:latin typeface="DejaVu Sans"/>
                <a:ea typeface="DejaVu Sans"/>
                <a:cs typeface="DejaVu Sans"/>
              </a:rPr>
              <a:t>main / section</a:t>
            </a:r>
          </a:p>
        </p:txBody>
      </p:sp>
      <p:sp>
        <p:nvSpPr>
          <p:cNvPr id="15" name="Главное содержимое и его разделы">
            <a:extLst>
              <a:ext uri="{FF2B5EF4-FFF2-40B4-BE49-F238E27FC236}">
                <a16:creationId xmlns:a16="http://schemas.microsoft.com/office/drawing/2014/main" id="{B5C23E6B-59F5-4083-AD1F-4AA04120A3BA}"/>
              </a:ext>
            </a:extLst>
          </p:cNvPr>
          <p:cNvSpPr>
            <a:spLocks noGrp="1"/>
          </p:cNvSpPr>
          <p:nvPr/>
        </p:nvSpPr>
        <p:spPr>
          <a:xfrm>
            <a:off x="7848600" y="4004786"/>
            <a:ext cx="373380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Главное содержимое и его разделы</a:t>
            </a:r>
          </a:p>
        </p:txBody>
      </p:sp>
      <p:sp>
        <p:nvSpPr>
          <p:cNvPr id="16" name="footer">
            <a:extLst>
              <a:ext uri="{FF2B5EF4-FFF2-40B4-BE49-F238E27FC236}">
                <a16:creationId xmlns:a16="http://schemas.microsoft.com/office/drawing/2014/main" id="{DD745E88-6F05-4FC9-9CDB-4CF9C097F30B}"/>
              </a:ext>
            </a:extLst>
          </p:cNvPr>
          <p:cNvSpPr>
            <a:spLocks noGrp="1"/>
          </p:cNvSpPr>
          <p:nvPr/>
        </p:nvSpPr>
        <p:spPr>
          <a:xfrm>
            <a:off x="7848600" y="4914900"/>
            <a:ext cx="3733800" cy="411004"/>
          </a:xfrm>
          <a:prstGeom prst="rect">
            <a:avLst/>
          </a:prstGeom>
          <a:noFill/>
          <a:ln w="0">
            <a:noFill/>
          </a:ln>
        </p:spPr>
        <p:txBody>
          <a:bodyPr wrap="none" lIns="0" tIns="0" rIns="0" bIns="0">
            <a:noAutofit/>
          </a:bodyPr>
          <a:lstStyle/>
          <a:p>
            <a:pPr>
              <a:defRPr sz="2175" b="1">
                <a:solidFill>
                  <a:srgbClr val="F0C5A6"/>
                </a:solidFill>
                <a:latin typeface="DejaVu Sans"/>
                <a:ea typeface="DejaVu Sans"/>
                <a:cs typeface="DejaVu Sans"/>
              </a:defRPr>
            </a:pPr>
            <a:r>
              <a:rPr sz="2175" b="1">
                <a:solidFill>
                  <a:srgbClr val="F0C5A6"/>
                </a:solidFill>
                <a:latin typeface="DejaVu Sans"/>
                <a:ea typeface="DejaVu Sans"/>
                <a:cs typeface="DejaVu Sans"/>
              </a:rPr>
              <a:t>footer</a:t>
            </a:r>
          </a:p>
        </p:txBody>
      </p:sp>
      <p:sp>
        <p:nvSpPr>
          <p:cNvPr id="17" name="Завершающая информация">
            <a:extLst>
              <a:ext uri="{FF2B5EF4-FFF2-40B4-BE49-F238E27FC236}">
                <a16:creationId xmlns:a16="http://schemas.microsoft.com/office/drawing/2014/main" id="{C983B487-233C-4AFC-9FDB-B35C0D8819AD}"/>
              </a:ext>
            </a:extLst>
          </p:cNvPr>
          <p:cNvSpPr>
            <a:spLocks noGrp="1"/>
          </p:cNvSpPr>
          <p:nvPr/>
        </p:nvSpPr>
        <p:spPr>
          <a:xfrm>
            <a:off x="7848600" y="5411629"/>
            <a:ext cx="3733800" cy="7239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Завершающая информация</a:t>
            </a:r>
          </a:p>
        </p:txBody>
      </p:sp>
    </p:spTree>
    <p:extLst>
      <p:ext uri="{BB962C8B-B14F-4D97-AF65-F5344CB8AC3E}">
        <p14:creationId xmlns:p14="http://schemas.microsoft.com/office/powerpoint/2010/main" val="1099441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14" name="Common beginner mistakes">
            <a:extLst>
              <a:ext uri="{FF2B5EF4-FFF2-40B4-BE49-F238E27FC236}">
                <a16:creationId xmlns:a16="http://schemas.microsoft.com/office/drawing/2014/main" id="{F22F5EC2-5198-4D09-8D2B-D5FDE2D722CD}"/>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Common beginner mistakes</a:t>
            </a:r>
          </a:p>
        </p:txBody>
      </p:sp>
      <p:sp>
        <p:nvSpPr>
          <p:cNvPr id="2" name="Проверяем расширение файла, вложенность и адреса">
            <a:extLst>
              <a:ext uri="{FF2B5EF4-FFF2-40B4-BE49-F238E27FC236}">
                <a16:creationId xmlns:a16="http://schemas.microsoft.com/office/drawing/2014/main" id="{9BFE7BE1-AA54-481D-96EA-6E42FE7F0791}"/>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Проверяем расширение файла, вложенность и адреса</a:t>
            </a:r>
          </a:p>
        </p:txBody>
      </p:sp>
      <p:sp>
        <p:nvSpPr>
          <p:cNvPr id="3" name="16">
            <a:extLst>
              <a:ext uri="{FF2B5EF4-FFF2-40B4-BE49-F238E27FC236}">
                <a16:creationId xmlns:a16="http://schemas.microsoft.com/office/drawing/2014/main" id="{475378A7-0CF0-463D-B349-4FB09617BB16}"/>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16</a:t>
            </a:r>
          </a:p>
        </p:txBody>
      </p:sp>
      <p:sp>
        <p:nvSpPr>
          <p:cNvPr id="4" name="File extension">
            <a:extLst>
              <a:ext uri="{FF2B5EF4-FFF2-40B4-BE49-F238E27FC236}">
                <a16:creationId xmlns:a16="http://schemas.microsoft.com/office/drawing/2014/main" id="{6F3AF44B-3EB6-4890-BD5C-E5C5782CBD8F}"/>
              </a:ext>
            </a:extLst>
          </p:cNvPr>
          <p:cNvSpPr>
            <a:spLocks noGrp="1"/>
          </p:cNvSpPr>
          <p:nvPr/>
        </p:nvSpPr>
        <p:spPr>
          <a:xfrm>
            <a:off x="638175" y="2076450"/>
            <a:ext cx="3952875" cy="390525"/>
          </a:xfrm>
          <a:prstGeom prst="rect">
            <a:avLst/>
          </a:prstGeom>
          <a:noFill/>
          <a:ln w="0">
            <a:noFill/>
          </a:ln>
        </p:spPr>
        <p:txBody>
          <a:bodyPr wrap="none" lIns="0" tIns="0" rIns="0" bIns="0">
            <a:noAutofit/>
          </a:bodyPr>
          <a:lstStyle/>
          <a:p>
            <a:pPr>
              <a:defRPr sz="2100" b="1">
                <a:solidFill>
                  <a:srgbClr val="F5F5EE"/>
                </a:solidFill>
                <a:latin typeface="DejaVu Sans"/>
                <a:ea typeface="DejaVu Sans"/>
                <a:cs typeface="DejaVu Sans"/>
              </a:defRPr>
            </a:pPr>
            <a:r>
              <a:rPr sz="2100" b="1">
                <a:solidFill>
                  <a:srgbClr val="F5F5EE"/>
                </a:solidFill>
                <a:latin typeface="DejaVu Sans"/>
                <a:ea typeface="DejaVu Sans"/>
                <a:cs typeface="DejaVu Sans"/>
              </a:rPr>
              <a:t>File extension</a:t>
            </a:r>
          </a:p>
        </p:txBody>
      </p:sp>
      <p:sp>
        <p:nvSpPr>
          <p:cNvPr id="5" name="index.html.txt">
            <a:extLst>
              <a:ext uri="{FF2B5EF4-FFF2-40B4-BE49-F238E27FC236}">
                <a16:creationId xmlns:a16="http://schemas.microsoft.com/office/drawing/2014/main" id="{666A23C0-EB06-45B9-B208-3729D5ECA329}"/>
              </a:ext>
            </a:extLst>
          </p:cNvPr>
          <p:cNvSpPr>
            <a:spLocks noGrp="1"/>
          </p:cNvSpPr>
          <p:nvPr/>
        </p:nvSpPr>
        <p:spPr>
          <a:xfrm>
            <a:off x="4857750" y="2085975"/>
            <a:ext cx="6429375" cy="400050"/>
          </a:xfrm>
          <a:prstGeom prst="rect">
            <a:avLst/>
          </a:prstGeom>
          <a:noFill/>
          <a:ln w="0">
            <a:noFill/>
          </a:ln>
        </p:spPr>
        <p:txBody>
          <a:bodyPr wrap="none" lIns="0" tIns="0" rIns="0" bIns="0">
            <a:noAutofit/>
          </a:bodyPr>
          <a:lstStyle/>
          <a:p>
            <a:pPr>
              <a:defRPr sz="2100" b="0">
                <a:solidFill>
                  <a:srgbClr val="F3B3A8"/>
                </a:solidFill>
                <a:latin typeface="DejaVu Sans Mono"/>
                <a:ea typeface="DejaVu Sans Mono"/>
                <a:cs typeface="DejaVu Sans Mono"/>
              </a:defRPr>
            </a:pPr>
            <a:r>
              <a:rPr sz="2100" b="0">
                <a:solidFill>
                  <a:srgbClr val="F3B3A8"/>
                </a:solidFill>
                <a:latin typeface="DejaVu Sans Mono"/>
                <a:ea typeface="DejaVu Sans Mono"/>
                <a:cs typeface="DejaVu Sans Mono"/>
              </a:rPr>
              <a:t>index.html.txt</a:t>
            </a:r>
          </a:p>
        </p:txBody>
      </p:sp>
      <p:sp>
        <p:nvSpPr>
          <p:cNvPr id="6" name="Keep the final extension .html">
            <a:extLst>
              <a:ext uri="{FF2B5EF4-FFF2-40B4-BE49-F238E27FC236}">
                <a16:creationId xmlns:a16="http://schemas.microsoft.com/office/drawing/2014/main" id="{67318CB4-4C37-42A6-A11D-8ACB1DA21609}"/>
              </a:ext>
            </a:extLst>
          </p:cNvPr>
          <p:cNvSpPr>
            <a:spLocks noGrp="1"/>
          </p:cNvSpPr>
          <p:nvPr/>
        </p:nvSpPr>
        <p:spPr>
          <a:xfrm>
            <a:off x="638175" y="2543175"/>
            <a:ext cx="10820400" cy="400050"/>
          </a:xfrm>
          <a:prstGeom prst="rect">
            <a:avLst/>
          </a:prstGeom>
          <a:noFill/>
          <a:ln w="0">
            <a:noFill/>
          </a:ln>
        </p:spPr>
        <p:txBody>
          <a:bodyPr wrap="none" lIns="0" tIns="0" rIns="0" bIns="0">
            <a:noAutofit/>
          </a:bodyPr>
          <a:lstStyle/>
          <a:p>
            <a:pPr>
              <a:defRPr sz="1650" b="0">
                <a:solidFill>
                  <a:srgbClr val="ABB7B8"/>
                </a:solidFill>
                <a:latin typeface="DejaVu Sans"/>
                <a:ea typeface="DejaVu Sans"/>
                <a:cs typeface="DejaVu Sans"/>
              </a:defRPr>
            </a:pPr>
            <a:r>
              <a:rPr sz="1650" b="0">
                <a:solidFill>
                  <a:srgbClr val="ABB7B8"/>
                </a:solidFill>
                <a:latin typeface="DejaVu Sans"/>
                <a:ea typeface="DejaVu Sans"/>
                <a:cs typeface="DejaVu Sans"/>
              </a:rPr>
              <a:t>Keep the final extension .html</a:t>
            </a:r>
          </a:p>
        </p:txBody>
      </p:sp>
      <p:sp>
        <p:nvSpPr>
          <p:cNvPr id="7" name="Nested elements">
            <a:extLst>
              <a:ext uri="{FF2B5EF4-FFF2-40B4-BE49-F238E27FC236}">
                <a16:creationId xmlns:a16="http://schemas.microsoft.com/office/drawing/2014/main" id="{B9AB7A75-4B3D-406E-B05C-40B6D32F9BAA}"/>
              </a:ext>
            </a:extLst>
          </p:cNvPr>
          <p:cNvSpPr>
            <a:spLocks noGrp="1"/>
          </p:cNvSpPr>
          <p:nvPr/>
        </p:nvSpPr>
        <p:spPr>
          <a:xfrm>
            <a:off x="638175" y="3248025"/>
            <a:ext cx="3952875" cy="390525"/>
          </a:xfrm>
          <a:prstGeom prst="rect">
            <a:avLst/>
          </a:prstGeom>
          <a:noFill/>
          <a:ln w="0">
            <a:noFill/>
          </a:ln>
        </p:spPr>
        <p:txBody>
          <a:bodyPr wrap="none" lIns="0" tIns="0" rIns="0" bIns="0">
            <a:noAutofit/>
          </a:bodyPr>
          <a:lstStyle/>
          <a:p>
            <a:pPr>
              <a:defRPr sz="2100" b="1">
                <a:solidFill>
                  <a:srgbClr val="F5F5EE"/>
                </a:solidFill>
                <a:latin typeface="DejaVu Sans"/>
                <a:ea typeface="DejaVu Sans"/>
                <a:cs typeface="DejaVu Sans"/>
              </a:defRPr>
            </a:pPr>
            <a:r>
              <a:rPr sz="2100" b="1">
                <a:solidFill>
                  <a:srgbClr val="F5F5EE"/>
                </a:solidFill>
                <a:latin typeface="DejaVu Sans"/>
                <a:ea typeface="DejaVu Sans"/>
                <a:cs typeface="DejaVu Sans"/>
              </a:rPr>
              <a:t>Nested elements</a:t>
            </a:r>
          </a:p>
        </p:txBody>
      </p:sp>
      <p:sp>
        <p:nvSpPr>
          <p:cNvPr id="8" name="&lt;p&gt;&lt;strong&gt;Hello&lt;/p&gt;&lt;/strong&gt;">
            <a:extLst>
              <a:ext uri="{FF2B5EF4-FFF2-40B4-BE49-F238E27FC236}">
                <a16:creationId xmlns:a16="http://schemas.microsoft.com/office/drawing/2014/main" id="{E6287616-173E-42D3-8EA1-75EBCF9C003B}"/>
              </a:ext>
            </a:extLst>
          </p:cNvPr>
          <p:cNvSpPr>
            <a:spLocks noGrp="1"/>
          </p:cNvSpPr>
          <p:nvPr/>
        </p:nvSpPr>
        <p:spPr>
          <a:xfrm>
            <a:off x="4857750" y="3257550"/>
            <a:ext cx="6858000" cy="428625"/>
          </a:xfrm>
          <a:prstGeom prst="rect">
            <a:avLst/>
          </a:prstGeom>
          <a:noFill/>
          <a:ln w="0">
            <a:noFill/>
          </a:ln>
        </p:spPr>
        <p:txBody>
          <a:bodyPr wrap="none" lIns="0" tIns="0" rIns="0" bIns="0">
            <a:noAutofit/>
          </a:bodyPr>
          <a:lstStyle/>
          <a:p>
            <a:pPr>
              <a:defRPr sz="2025" b="0">
                <a:solidFill>
                  <a:srgbClr val="F3B3A8"/>
                </a:solidFill>
                <a:latin typeface="DejaVu Sans Mono"/>
                <a:ea typeface="DejaVu Sans Mono"/>
                <a:cs typeface="DejaVu Sans Mono"/>
              </a:defRPr>
            </a:pPr>
            <a:r>
              <a:rPr sz="2025" b="0">
                <a:solidFill>
                  <a:srgbClr val="F3B3A8"/>
                </a:solidFill>
                <a:latin typeface="DejaVu Sans Mono"/>
                <a:ea typeface="DejaVu Sans Mono"/>
                <a:cs typeface="DejaVu Sans Mono"/>
              </a:rPr>
              <a:t>&lt;p&gt;&lt;strong&gt;Hello&lt;/p&gt;&lt;/strong&gt;</a:t>
            </a:r>
          </a:p>
        </p:txBody>
      </p:sp>
      <p:sp>
        <p:nvSpPr>
          <p:cNvPr id="9" name="&lt;p&gt;&lt;strong&gt;Hello&lt;/strong&gt;&lt;/p&gt;">
            <a:extLst>
              <a:ext uri="{FF2B5EF4-FFF2-40B4-BE49-F238E27FC236}">
                <a16:creationId xmlns:a16="http://schemas.microsoft.com/office/drawing/2014/main" id="{47D865E0-E656-4BF8-B9E6-848BED020D0D}"/>
              </a:ext>
            </a:extLst>
          </p:cNvPr>
          <p:cNvSpPr>
            <a:spLocks noGrp="1"/>
          </p:cNvSpPr>
          <p:nvPr/>
        </p:nvSpPr>
        <p:spPr>
          <a:xfrm>
            <a:off x="4857750" y="3733800"/>
            <a:ext cx="6858000" cy="428625"/>
          </a:xfrm>
          <a:prstGeom prst="rect">
            <a:avLst/>
          </a:prstGeom>
          <a:noFill/>
          <a:ln w="0">
            <a:noFill/>
          </a:ln>
        </p:spPr>
        <p:txBody>
          <a:bodyPr wrap="none" lIns="0" tIns="0" rIns="0" bIns="0">
            <a:noAutofit/>
          </a:bodyPr>
          <a:lstStyle/>
          <a:p>
            <a:pPr>
              <a:defRPr sz="2025" b="0">
                <a:solidFill>
                  <a:srgbClr val="86DBD3"/>
                </a:solidFill>
                <a:latin typeface="DejaVu Sans Mono"/>
                <a:ea typeface="DejaVu Sans Mono"/>
                <a:cs typeface="DejaVu Sans Mono"/>
              </a:defRPr>
            </a:pPr>
            <a:r>
              <a:rPr sz="2025" b="0">
                <a:solidFill>
                  <a:srgbClr val="86DBD3"/>
                </a:solidFill>
                <a:latin typeface="DejaVu Sans Mono"/>
                <a:ea typeface="DejaVu Sans Mono"/>
                <a:cs typeface="DejaVu Sans Mono"/>
              </a:rPr>
              <a:t>&lt;p&gt;&lt;strong&gt;Hello&lt;/strong&gt;&lt;/p&gt;</a:t>
            </a:r>
          </a:p>
        </p:txBody>
      </p:sp>
      <p:sp>
        <p:nvSpPr>
          <p:cNvPr id="10" name="File paths">
            <a:extLst>
              <a:ext uri="{FF2B5EF4-FFF2-40B4-BE49-F238E27FC236}">
                <a16:creationId xmlns:a16="http://schemas.microsoft.com/office/drawing/2014/main" id="{7C697001-33C7-4772-A939-349413F54DFD}"/>
              </a:ext>
            </a:extLst>
          </p:cNvPr>
          <p:cNvSpPr>
            <a:spLocks noGrp="1"/>
          </p:cNvSpPr>
          <p:nvPr/>
        </p:nvSpPr>
        <p:spPr>
          <a:xfrm>
            <a:off x="638175" y="4648200"/>
            <a:ext cx="3952875" cy="390525"/>
          </a:xfrm>
          <a:prstGeom prst="rect">
            <a:avLst/>
          </a:prstGeom>
          <a:noFill/>
          <a:ln w="0">
            <a:noFill/>
          </a:ln>
        </p:spPr>
        <p:txBody>
          <a:bodyPr wrap="none" lIns="0" tIns="0" rIns="0" bIns="0">
            <a:noAutofit/>
          </a:bodyPr>
          <a:lstStyle/>
          <a:p>
            <a:pPr>
              <a:defRPr sz="2100" b="1">
                <a:solidFill>
                  <a:srgbClr val="F5F5EE"/>
                </a:solidFill>
                <a:latin typeface="DejaVu Sans"/>
                <a:ea typeface="DejaVu Sans"/>
                <a:cs typeface="DejaVu Sans"/>
              </a:defRPr>
            </a:pPr>
            <a:r>
              <a:rPr sz="2100" b="1">
                <a:solidFill>
                  <a:srgbClr val="F5F5EE"/>
                </a:solidFill>
                <a:latin typeface="DejaVu Sans"/>
                <a:ea typeface="DejaVu Sans"/>
                <a:cs typeface="DejaVu Sans"/>
              </a:rPr>
              <a:t>File paths</a:t>
            </a:r>
          </a:p>
        </p:txBody>
      </p:sp>
      <p:sp>
        <p:nvSpPr>
          <p:cNvPr id="11" name="images/campus.jpg">
            <a:extLst>
              <a:ext uri="{FF2B5EF4-FFF2-40B4-BE49-F238E27FC236}">
                <a16:creationId xmlns:a16="http://schemas.microsoft.com/office/drawing/2014/main" id="{26D64C98-5FD9-4FD5-B098-2AFFE3FD23F5}"/>
              </a:ext>
            </a:extLst>
          </p:cNvPr>
          <p:cNvSpPr>
            <a:spLocks noGrp="1"/>
          </p:cNvSpPr>
          <p:nvPr/>
        </p:nvSpPr>
        <p:spPr>
          <a:xfrm>
            <a:off x="4857750" y="4657725"/>
            <a:ext cx="6858000" cy="428625"/>
          </a:xfrm>
          <a:prstGeom prst="rect">
            <a:avLst/>
          </a:prstGeom>
          <a:noFill/>
          <a:ln w="0">
            <a:noFill/>
          </a:ln>
        </p:spPr>
        <p:txBody>
          <a:bodyPr wrap="none" lIns="0" tIns="0" rIns="0" bIns="0">
            <a:noAutofit/>
          </a:bodyPr>
          <a:lstStyle/>
          <a:p>
            <a:pPr>
              <a:defRPr sz="2100" b="0">
                <a:solidFill>
                  <a:srgbClr val="F0C5A6"/>
                </a:solidFill>
                <a:latin typeface="DejaVu Sans Mono"/>
                <a:ea typeface="DejaVu Sans Mono"/>
                <a:cs typeface="DejaVu Sans Mono"/>
              </a:defRPr>
            </a:pPr>
            <a:r>
              <a:rPr sz="2100" b="0">
                <a:solidFill>
                  <a:srgbClr val="F0C5A6"/>
                </a:solidFill>
                <a:latin typeface="DejaVu Sans Mono"/>
                <a:ea typeface="DejaVu Sans Mono"/>
                <a:cs typeface="DejaVu Sans Mono"/>
              </a:rPr>
              <a:t>images/campus.jpg</a:t>
            </a:r>
          </a:p>
        </p:txBody>
      </p:sp>
      <p:sp>
        <p:nvSpPr>
          <p:cNvPr id="12" name="Check the folder, filename and extension.">
            <a:extLst>
              <a:ext uri="{FF2B5EF4-FFF2-40B4-BE49-F238E27FC236}">
                <a16:creationId xmlns:a16="http://schemas.microsoft.com/office/drawing/2014/main" id="{0AC102EE-0ACB-4E6B-BF75-46604CAEF1BC}"/>
              </a:ext>
            </a:extLst>
          </p:cNvPr>
          <p:cNvSpPr>
            <a:spLocks noGrp="1"/>
          </p:cNvSpPr>
          <p:nvPr/>
        </p:nvSpPr>
        <p:spPr>
          <a:xfrm>
            <a:off x="4857750" y="5162550"/>
            <a:ext cx="6734175" cy="400050"/>
          </a:xfrm>
          <a:prstGeom prst="rect">
            <a:avLst/>
          </a:prstGeom>
          <a:noFill/>
          <a:ln w="0">
            <a:noFill/>
          </a:ln>
        </p:spPr>
        <p:txBody>
          <a:bodyPr wrap="none" lIns="0" tIns="0" rIns="0" bIns="0">
            <a:noAutofit/>
          </a:bodyPr>
          <a:lstStyle/>
          <a:p>
            <a:pPr>
              <a:defRPr sz="1725" b="0">
                <a:solidFill>
                  <a:srgbClr val="ABB7B8"/>
                </a:solidFill>
                <a:latin typeface="DejaVu Sans"/>
                <a:ea typeface="DejaVu Sans"/>
                <a:cs typeface="DejaVu Sans"/>
              </a:defRPr>
            </a:pPr>
            <a:r>
              <a:rPr sz="1725" b="0">
                <a:solidFill>
                  <a:srgbClr val="ABB7B8"/>
                </a:solidFill>
                <a:latin typeface="DejaVu Sans"/>
                <a:ea typeface="DejaVu Sans"/>
                <a:cs typeface="DejaVu Sans"/>
              </a:rPr>
              <a:t>Check the folder, filename and extension.</a:t>
            </a:r>
          </a:p>
        </p:txBody>
      </p:sp>
      <p:sp>
        <p:nvSpPr>
          <p:cNvPr id="13" name="Закрывайте внутренний элемент раньше внешнего.">
            <a:extLst>
              <a:ext uri="{FF2B5EF4-FFF2-40B4-BE49-F238E27FC236}">
                <a16:creationId xmlns:a16="http://schemas.microsoft.com/office/drawing/2014/main" id="{F28EDF03-E53E-46DF-85BD-35D8A9CAB074}"/>
              </a:ext>
            </a:extLst>
          </p:cNvPr>
          <p:cNvSpPr>
            <a:spLocks noGrp="1"/>
          </p:cNvSpPr>
          <p:nvPr/>
        </p:nvSpPr>
        <p:spPr>
          <a:xfrm>
            <a:off x="647700" y="5876925"/>
            <a:ext cx="10887075" cy="381000"/>
          </a:xfrm>
          <a:prstGeom prst="rect">
            <a:avLst/>
          </a:prstGeom>
          <a:noFill/>
          <a:ln w="0">
            <a:noFill/>
          </a:ln>
        </p:spPr>
        <p:txBody>
          <a:bodyPr wrap="none" lIns="0" tIns="0" rIns="0" bIns="0">
            <a:noAutofit/>
          </a:bodyPr>
          <a:lstStyle/>
          <a:p>
            <a:pPr>
              <a:defRPr sz="1650" b="0">
                <a:solidFill>
                  <a:srgbClr val="ABB7B8"/>
                </a:solidFill>
                <a:latin typeface="DejaVu Sans"/>
                <a:ea typeface="DejaVu Sans"/>
                <a:cs typeface="DejaVu Sans"/>
              </a:defRPr>
            </a:pPr>
            <a:r>
              <a:rPr sz="1650" b="0">
                <a:solidFill>
                  <a:srgbClr val="ABB7B8"/>
                </a:solidFill>
                <a:latin typeface="DejaVu Sans"/>
                <a:ea typeface="DejaVu Sans"/>
                <a:cs typeface="DejaVu Sans"/>
              </a:rPr>
              <a:t>Закрывайте внутренний элемент раньше внешнего.</a:t>
            </a:r>
          </a:p>
        </p:txBody>
      </p:sp>
    </p:spTree>
    <p:extLst>
      <p:ext uri="{BB962C8B-B14F-4D97-AF65-F5344CB8AC3E}">
        <p14:creationId xmlns:p14="http://schemas.microsoft.com/office/powerpoint/2010/main" val="1019971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719"/>
        </a:solidFill>
        <a:effectLst/>
      </p:bgPr>
    </p:bg>
    <p:spTree>
      <p:nvGrpSpPr>
        <p:cNvPr id="1" name=""/>
        <p:cNvGrpSpPr/>
        <p:nvPr/>
      </p:nvGrpSpPr>
      <p:grpSpPr>
        <a:xfrm>
          <a:off x="0" y="0"/>
          <a:ext cx="0" cy="0"/>
          <a:chOff x="0" y="0"/>
          <a:chExt cx="0" cy="0"/>
        </a:xfrm>
      </p:grpSpPr>
      <p:sp>
        <p:nvSpPr>
          <p:cNvPr id="17" name="Quick review">
            <a:extLst>
              <a:ext uri="{FF2B5EF4-FFF2-40B4-BE49-F238E27FC236}">
                <a16:creationId xmlns:a16="http://schemas.microsoft.com/office/drawing/2014/main" id="{DA947EA6-0341-4BF5-9CE1-F8B5E9A66D03}"/>
              </a:ext>
            </a:extLst>
          </p:cNvPr>
          <p:cNvSpPr>
            <a:spLocks noGrp="1"/>
          </p:cNvSpPr>
          <p:nvPr/>
        </p:nvSpPr>
        <p:spPr>
          <a:xfrm>
            <a:off x="609600" y="428625"/>
            <a:ext cx="10972800" cy="685800"/>
          </a:xfrm>
          <a:prstGeom prst="rect">
            <a:avLst/>
          </a:prstGeom>
          <a:noFill/>
          <a:ln w="0">
            <a:noFill/>
          </a:ln>
        </p:spPr>
        <p:txBody>
          <a:bodyPr wrap="none" lIns="0" tIns="0" rIns="0" bIns="0">
            <a:noAutofit/>
          </a:bodyPr>
          <a:lstStyle/>
          <a:p>
            <a:pPr>
              <a:defRPr sz="3750" b="1">
                <a:solidFill>
                  <a:srgbClr val="F5F5EE"/>
                </a:solidFill>
                <a:latin typeface="DejaVu Sans"/>
                <a:ea typeface="DejaVu Sans"/>
                <a:cs typeface="DejaVu Sans"/>
              </a:defRPr>
            </a:pPr>
            <a:r>
              <a:rPr sz="3750" b="1">
                <a:solidFill>
                  <a:srgbClr val="F5F5EE"/>
                </a:solidFill>
                <a:latin typeface="DejaVu Sans"/>
                <a:ea typeface="DejaVu Sans"/>
                <a:cs typeface="DejaVu Sans"/>
              </a:rPr>
              <a:t>Quick review</a:t>
            </a:r>
          </a:p>
        </p:txBody>
      </p:sp>
      <p:sp>
        <p:nvSpPr>
          <p:cNvPr id="2" name="Объясните своими словами и покажите пример в коде">
            <a:extLst>
              <a:ext uri="{FF2B5EF4-FFF2-40B4-BE49-F238E27FC236}">
                <a16:creationId xmlns:a16="http://schemas.microsoft.com/office/drawing/2014/main" id="{534073DB-DA95-412D-B0E8-FC31626BC2A8}"/>
              </a:ext>
            </a:extLst>
          </p:cNvPr>
          <p:cNvSpPr>
            <a:spLocks noGrp="1"/>
          </p:cNvSpPr>
          <p:nvPr/>
        </p:nvSpPr>
        <p:spPr>
          <a:xfrm>
            <a:off x="638175" y="1200150"/>
            <a:ext cx="10896600" cy="41910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Объясните своими словами и покажите пример в коде</a:t>
            </a:r>
          </a:p>
        </p:txBody>
      </p:sp>
      <p:sp>
        <p:nvSpPr>
          <p:cNvPr id="3" name="18">
            <a:extLst>
              <a:ext uri="{FF2B5EF4-FFF2-40B4-BE49-F238E27FC236}">
                <a16:creationId xmlns:a16="http://schemas.microsoft.com/office/drawing/2014/main" id="{98522AB0-2160-4A1F-9D33-FD03D1AA5899}"/>
              </a:ext>
            </a:extLst>
          </p:cNvPr>
          <p:cNvSpPr>
            <a:spLocks noGrp="1"/>
          </p:cNvSpPr>
          <p:nvPr/>
        </p:nvSpPr>
        <p:spPr>
          <a:xfrm>
            <a:off x="11220450" y="6429375"/>
            <a:ext cx="428625" cy="266700"/>
          </a:xfrm>
          <a:prstGeom prst="rect">
            <a:avLst/>
          </a:prstGeom>
          <a:noFill/>
          <a:ln w="0">
            <a:noFill/>
          </a:ln>
        </p:spPr>
        <p:txBody>
          <a:bodyPr wrap="none" lIns="0" tIns="0" rIns="0" bIns="0">
            <a:noAutofit/>
          </a:bodyPr>
          <a:lstStyle/>
          <a:p>
            <a:pPr>
              <a:defRPr sz="1275" b="0">
                <a:solidFill>
                  <a:srgbClr val="ABB7B8"/>
                </a:solidFill>
                <a:latin typeface="DejaVu Sans"/>
                <a:ea typeface="DejaVu Sans"/>
                <a:cs typeface="DejaVu Sans"/>
              </a:defRPr>
            </a:pPr>
            <a:r>
              <a:rPr sz="1275" b="0">
                <a:solidFill>
                  <a:srgbClr val="ABB7B8"/>
                </a:solidFill>
                <a:latin typeface="DejaVu Sans"/>
                <a:ea typeface="DejaVu Sans"/>
                <a:cs typeface="DejaVu Sans"/>
              </a:rPr>
              <a:t>18</a:t>
            </a:r>
          </a:p>
        </p:txBody>
      </p:sp>
      <p:sp>
        <p:nvSpPr>
          <p:cNvPr id="4" name="01">
            <a:extLst>
              <a:ext uri="{FF2B5EF4-FFF2-40B4-BE49-F238E27FC236}">
                <a16:creationId xmlns:a16="http://schemas.microsoft.com/office/drawing/2014/main" id="{8C7F1B2E-75DB-4C16-8E04-A4737E0CEE1D}"/>
              </a:ext>
            </a:extLst>
          </p:cNvPr>
          <p:cNvSpPr>
            <a:spLocks noGrp="1"/>
          </p:cNvSpPr>
          <p:nvPr/>
        </p:nvSpPr>
        <p:spPr>
          <a:xfrm>
            <a:off x="638175" y="1981200"/>
            <a:ext cx="619125" cy="428625"/>
          </a:xfrm>
          <a:prstGeom prst="rect">
            <a:avLst/>
          </a:prstGeom>
          <a:noFill/>
          <a:ln w="0">
            <a:noFill/>
          </a:ln>
        </p:spPr>
        <p:txBody>
          <a:bodyPr wrap="none" lIns="0" tIns="0" rIns="0" bIns="0">
            <a:noAutofit/>
          </a:bodyPr>
          <a:lstStyle/>
          <a:p>
            <a:pPr>
              <a:defRPr sz="2025" b="0">
                <a:solidFill>
                  <a:srgbClr val="D3F879"/>
                </a:solidFill>
                <a:latin typeface="DejaVu Sans"/>
                <a:ea typeface="DejaVu Sans"/>
                <a:cs typeface="DejaVu Sans"/>
              </a:defRPr>
            </a:pPr>
            <a:r>
              <a:rPr sz="2025" b="0">
                <a:solidFill>
                  <a:srgbClr val="D3F879"/>
                </a:solidFill>
                <a:latin typeface="DejaVu Sans"/>
                <a:ea typeface="DejaVu Sans"/>
                <a:cs typeface="DejaVu Sans"/>
              </a:rPr>
              <a:t>01</a:t>
            </a:r>
          </a:p>
        </p:txBody>
      </p:sp>
      <p:sp>
        <p:nvSpPr>
          <p:cNvPr id="5" name="What does frontend do?">
            <a:extLst>
              <a:ext uri="{FF2B5EF4-FFF2-40B4-BE49-F238E27FC236}">
                <a16:creationId xmlns:a16="http://schemas.microsoft.com/office/drawing/2014/main" id="{78580EC5-6710-422B-AC88-DAAAF43A1ADC}"/>
              </a:ext>
            </a:extLst>
          </p:cNvPr>
          <p:cNvSpPr>
            <a:spLocks noGrp="1"/>
          </p:cNvSpPr>
          <p:nvPr/>
        </p:nvSpPr>
        <p:spPr>
          <a:xfrm>
            <a:off x="1533525" y="1971675"/>
            <a:ext cx="10001250" cy="438150"/>
          </a:xfrm>
          <a:prstGeom prst="rect">
            <a:avLst/>
          </a:prstGeom>
          <a:noFill/>
          <a:ln w="0">
            <a:noFill/>
          </a:ln>
        </p:spPr>
        <p:txBody>
          <a:bodyPr wrap="none" lIns="0" tIns="0" rIns="0" bIns="0">
            <a:noAutofit/>
          </a:bodyPr>
          <a:lstStyle/>
          <a:p>
            <a:pPr>
              <a:defRPr sz="2250" b="1">
                <a:solidFill>
                  <a:srgbClr val="F5F5EE"/>
                </a:solidFill>
                <a:latin typeface="DejaVu Sans"/>
                <a:ea typeface="DejaVu Sans"/>
                <a:cs typeface="DejaVu Sans"/>
              </a:defRPr>
            </a:pPr>
            <a:r>
              <a:rPr sz="2250" b="1">
                <a:solidFill>
                  <a:srgbClr val="F5F5EE"/>
                </a:solidFill>
                <a:latin typeface="DejaVu Sans"/>
                <a:ea typeface="DejaVu Sans"/>
                <a:cs typeface="DejaVu Sans"/>
              </a:rPr>
              <a:t>What does frontend do?</a:t>
            </a:r>
          </a:p>
        </p:txBody>
      </p:sp>
      <p:sp>
        <p:nvSpPr>
          <p:cNvPr id="6" name="За что отвечает Frontend?">
            <a:extLst>
              <a:ext uri="{FF2B5EF4-FFF2-40B4-BE49-F238E27FC236}">
                <a16:creationId xmlns:a16="http://schemas.microsoft.com/office/drawing/2014/main" id="{962BE6E1-1477-4D94-9D6D-67C8448DD4C3}"/>
              </a:ext>
            </a:extLst>
          </p:cNvPr>
          <p:cNvSpPr>
            <a:spLocks noGrp="1"/>
          </p:cNvSpPr>
          <p:nvPr/>
        </p:nvSpPr>
        <p:spPr>
          <a:xfrm>
            <a:off x="1562100" y="2409825"/>
            <a:ext cx="9906000" cy="32385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За что отвечает Frontend?</a:t>
            </a:r>
          </a:p>
        </p:txBody>
      </p:sp>
      <p:sp>
        <p:nvSpPr>
          <p:cNvPr id="7" name="02">
            <a:extLst>
              <a:ext uri="{FF2B5EF4-FFF2-40B4-BE49-F238E27FC236}">
                <a16:creationId xmlns:a16="http://schemas.microsoft.com/office/drawing/2014/main" id="{5C9B50E1-CB8F-41DF-99B2-BA44D7AE2A26}"/>
              </a:ext>
            </a:extLst>
          </p:cNvPr>
          <p:cNvSpPr>
            <a:spLocks noGrp="1"/>
          </p:cNvSpPr>
          <p:nvPr/>
        </p:nvSpPr>
        <p:spPr>
          <a:xfrm>
            <a:off x="638175" y="2895600"/>
            <a:ext cx="619125" cy="428625"/>
          </a:xfrm>
          <a:prstGeom prst="rect">
            <a:avLst/>
          </a:prstGeom>
          <a:noFill/>
          <a:ln w="0">
            <a:noFill/>
          </a:ln>
        </p:spPr>
        <p:txBody>
          <a:bodyPr wrap="none" lIns="0" tIns="0" rIns="0" bIns="0">
            <a:noAutofit/>
          </a:bodyPr>
          <a:lstStyle/>
          <a:p>
            <a:pPr>
              <a:defRPr sz="2025" b="0">
                <a:solidFill>
                  <a:srgbClr val="D3F879"/>
                </a:solidFill>
                <a:latin typeface="DejaVu Sans"/>
                <a:ea typeface="DejaVu Sans"/>
                <a:cs typeface="DejaVu Sans"/>
              </a:defRPr>
            </a:pPr>
            <a:r>
              <a:rPr sz="2025" b="0">
                <a:solidFill>
                  <a:srgbClr val="D3F879"/>
                </a:solidFill>
                <a:latin typeface="DejaVu Sans"/>
                <a:ea typeface="DejaVu Sans"/>
                <a:cs typeface="DejaVu Sans"/>
              </a:rPr>
              <a:t>02</a:t>
            </a:r>
          </a:p>
        </p:txBody>
      </p:sp>
      <p:sp>
        <p:nvSpPr>
          <p:cNvPr id="8" name="How are a tag and an element different?">
            <a:extLst>
              <a:ext uri="{FF2B5EF4-FFF2-40B4-BE49-F238E27FC236}">
                <a16:creationId xmlns:a16="http://schemas.microsoft.com/office/drawing/2014/main" id="{E3E8DD15-DBE4-411D-A002-D0F8AEDD1889}"/>
              </a:ext>
            </a:extLst>
          </p:cNvPr>
          <p:cNvSpPr>
            <a:spLocks noGrp="1"/>
          </p:cNvSpPr>
          <p:nvPr/>
        </p:nvSpPr>
        <p:spPr>
          <a:xfrm>
            <a:off x="1533525" y="2886075"/>
            <a:ext cx="10001250" cy="438150"/>
          </a:xfrm>
          <a:prstGeom prst="rect">
            <a:avLst/>
          </a:prstGeom>
          <a:noFill/>
          <a:ln w="0">
            <a:noFill/>
          </a:ln>
        </p:spPr>
        <p:txBody>
          <a:bodyPr wrap="none" lIns="0" tIns="0" rIns="0" bIns="0">
            <a:noAutofit/>
          </a:bodyPr>
          <a:lstStyle/>
          <a:p>
            <a:pPr>
              <a:defRPr sz="2250" b="1">
                <a:solidFill>
                  <a:srgbClr val="F5F5EE"/>
                </a:solidFill>
                <a:latin typeface="DejaVu Sans"/>
                <a:ea typeface="DejaVu Sans"/>
                <a:cs typeface="DejaVu Sans"/>
              </a:defRPr>
            </a:pPr>
            <a:r>
              <a:rPr sz="2250" b="1">
                <a:solidFill>
                  <a:srgbClr val="F5F5EE"/>
                </a:solidFill>
                <a:latin typeface="DejaVu Sans"/>
                <a:ea typeface="DejaVu Sans"/>
                <a:cs typeface="DejaVu Sans"/>
              </a:rPr>
              <a:t>How are a tag and an element different?</a:t>
            </a:r>
          </a:p>
        </p:txBody>
      </p:sp>
      <p:sp>
        <p:nvSpPr>
          <p:cNvPr id="9" name="Чем тег отличается от элемента?">
            <a:extLst>
              <a:ext uri="{FF2B5EF4-FFF2-40B4-BE49-F238E27FC236}">
                <a16:creationId xmlns:a16="http://schemas.microsoft.com/office/drawing/2014/main" id="{3A0D3F0C-021F-47B7-AD34-3EAB56911973}"/>
              </a:ext>
            </a:extLst>
          </p:cNvPr>
          <p:cNvSpPr>
            <a:spLocks noGrp="1"/>
          </p:cNvSpPr>
          <p:nvPr/>
        </p:nvSpPr>
        <p:spPr>
          <a:xfrm>
            <a:off x="1562100" y="3324225"/>
            <a:ext cx="9906000" cy="32385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Чем тег отличается от элемента?</a:t>
            </a:r>
          </a:p>
        </p:txBody>
      </p:sp>
      <p:sp>
        <p:nvSpPr>
          <p:cNvPr id="10" name="03">
            <a:extLst>
              <a:ext uri="{FF2B5EF4-FFF2-40B4-BE49-F238E27FC236}">
                <a16:creationId xmlns:a16="http://schemas.microsoft.com/office/drawing/2014/main" id="{A7D0EA44-8CE2-4E69-A4FA-52E2A4ADD204}"/>
              </a:ext>
            </a:extLst>
          </p:cNvPr>
          <p:cNvSpPr>
            <a:spLocks noGrp="1"/>
          </p:cNvSpPr>
          <p:nvPr/>
        </p:nvSpPr>
        <p:spPr>
          <a:xfrm>
            <a:off x="638175" y="3810000"/>
            <a:ext cx="619125" cy="428625"/>
          </a:xfrm>
          <a:prstGeom prst="rect">
            <a:avLst/>
          </a:prstGeom>
          <a:noFill/>
          <a:ln w="0">
            <a:noFill/>
          </a:ln>
        </p:spPr>
        <p:txBody>
          <a:bodyPr wrap="none" lIns="0" tIns="0" rIns="0" bIns="0">
            <a:noAutofit/>
          </a:bodyPr>
          <a:lstStyle/>
          <a:p>
            <a:pPr>
              <a:defRPr sz="2025" b="0">
                <a:solidFill>
                  <a:srgbClr val="D3F879"/>
                </a:solidFill>
                <a:latin typeface="DejaVu Sans"/>
                <a:ea typeface="DejaVu Sans"/>
                <a:cs typeface="DejaVu Sans"/>
              </a:defRPr>
            </a:pPr>
            <a:r>
              <a:rPr sz="2025" b="0">
                <a:solidFill>
                  <a:srgbClr val="D3F879"/>
                </a:solidFill>
                <a:latin typeface="DejaVu Sans"/>
                <a:ea typeface="DejaVu Sans"/>
                <a:cs typeface="DejaVu Sans"/>
              </a:rPr>
              <a:t>03</a:t>
            </a:r>
          </a:p>
        </p:txBody>
      </p:sp>
      <p:sp>
        <p:nvSpPr>
          <p:cNvPr id="11" name="Where do title and h1 appear?">
            <a:extLst>
              <a:ext uri="{FF2B5EF4-FFF2-40B4-BE49-F238E27FC236}">
                <a16:creationId xmlns:a16="http://schemas.microsoft.com/office/drawing/2014/main" id="{3C202039-64E5-469B-89F6-892F92491438}"/>
              </a:ext>
            </a:extLst>
          </p:cNvPr>
          <p:cNvSpPr>
            <a:spLocks noGrp="1"/>
          </p:cNvSpPr>
          <p:nvPr/>
        </p:nvSpPr>
        <p:spPr>
          <a:xfrm>
            <a:off x="1533525" y="3800475"/>
            <a:ext cx="10001250" cy="438150"/>
          </a:xfrm>
          <a:prstGeom prst="rect">
            <a:avLst/>
          </a:prstGeom>
          <a:noFill/>
          <a:ln w="0">
            <a:noFill/>
          </a:ln>
        </p:spPr>
        <p:txBody>
          <a:bodyPr wrap="none" lIns="0" tIns="0" rIns="0" bIns="0">
            <a:noAutofit/>
          </a:bodyPr>
          <a:lstStyle/>
          <a:p>
            <a:pPr>
              <a:defRPr sz="2250" b="1">
                <a:solidFill>
                  <a:srgbClr val="F5F5EE"/>
                </a:solidFill>
                <a:latin typeface="DejaVu Sans"/>
                <a:ea typeface="DejaVu Sans"/>
                <a:cs typeface="DejaVu Sans"/>
              </a:defRPr>
            </a:pPr>
            <a:r>
              <a:rPr sz="2250" b="1">
                <a:solidFill>
                  <a:srgbClr val="F5F5EE"/>
                </a:solidFill>
                <a:latin typeface="DejaVu Sans"/>
                <a:ea typeface="DejaVu Sans"/>
                <a:cs typeface="DejaVu Sans"/>
              </a:rPr>
              <a:t>Where do title and h1 appear?</a:t>
            </a:r>
          </a:p>
        </p:txBody>
      </p:sp>
      <p:sp>
        <p:nvSpPr>
          <p:cNvPr id="12" name="Где видны title и h1?">
            <a:extLst>
              <a:ext uri="{FF2B5EF4-FFF2-40B4-BE49-F238E27FC236}">
                <a16:creationId xmlns:a16="http://schemas.microsoft.com/office/drawing/2014/main" id="{209FBDD1-19DA-43E6-9028-44A2D77FBBCC}"/>
              </a:ext>
            </a:extLst>
          </p:cNvPr>
          <p:cNvSpPr>
            <a:spLocks noGrp="1"/>
          </p:cNvSpPr>
          <p:nvPr/>
        </p:nvSpPr>
        <p:spPr>
          <a:xfrm>
            <a:off x="1562100" y="4238625"/>
            <a:ext cx="9906000" cy="32385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Где видны title и h1?</a:t>
            </a:r>
          </a:p>
        </p:txBody>
      </p:sp>
      <p:sp>
        <p:nvSpPr>
          <p:cNvPr id="13" name="04">
            <a:extLst>
              <a:ext uri="{FF2B5EF4-FFF2-40B4-BE49-F238E27FC236}">
                <a16:creationId xmlns:a16="http://schemas.microsoft.com/office/drawing/2014/main" id="{4449577E-B955-4FAF-8A7E-4BDBF668F75D}"/>
              </a:ext>
            </a:extLst>
          </p:cNvPr>
          <p:cNvSpPr>
            <a:spLocks noGrp="1"/>
          </p:cNvSpPr>
          <p:nvPr/>
        </p:nvSpPr>
        <p:spPr>
          <a:xfrm>
            <a:off x="638175" y="4724400"/>
            <a:ext cx="619125" cy="428625"/>
          </a:xfrm>
          <a:prstGeom prst="rect">
            <a:avLst/>
          </a:prstGeom>
          <a:noFill/>
          <a:ln w="0">
            <a:noFill/>
          </a:ln>
        </p:spPr>
        <p:txBody>
          <a:bodyPr wrap="none" lIns="0" tIns="0" rIns="0" bIns="0">
            <a:noAutofit/>
          </a:bodyPr>
          <a:lstStyle/>
          <a:p>
            <a:pPr>
              <a:defRPr sz="2025" b="0">
                <a:solidFill>
                  <a:srgbClr val="D3F879"/>
                </a:solidFill>
                <a:latin typeface="DejaVu Sans"/>
                <a:ea typeface="DejaVu Sans"/>
                <a:cs typeface="DejaVu Sans"/>
              </a:defRPr>
            </a:pPr>
            <a:r>
              <a:rPr sz="2025" b="0">
                <a:solidFill>
                  <a:srgbClr val="D3F879"/>
                </a:solidFill>
                <a:latin typeface="DejaVu Sans"/>
                <a:ea typeface="DejaVu Sans"/>
                <a:cs typeface="DejaVu Sans"/>
              </a:rPr>
              <a:t>04</a:t>
            </a:r>
          </a:p>
        </p:txBody>
      </p:sp>
      <p:sp>
        <p:nvSpPr>
          <p:cNvPr id="14" name="What do href, src and alt describe?">
            <a:extLst>
              <a:ext uri="{FF2B5EF4-FFF2-40B4-BE49-F238E27FC236}">
                <a16:creationId xmlns:a16="http://schemas.microsoft.com/office/drawing/2014/main" id="{3BBC9766-2D34-4F64-A4DC-67593BC4AD37}"/>
              </a:ext>
            </a:extLst>
          </p:cNvPr>
          <p:cNvSpPr>
            <a:spLocks noGrp="1"/>
          </p:cNvSpPr>
          <p:nvPr/>
        </p:nvSpPr>
        <p:spPr>
          <a:xfrm>
            <a:off x="1533525" y="4714875"/>
            <a:ext cx="10001250" cy="438150"/>
          </a:xfrm>
          <a:prstGeom prst="rect">
            <a:avLst/>
          </a:prstGeom>
          <a:noFill/>
          <a:ln w="0">
            <a:noFill/>
          </a:ln>
        </p:spPr>
        <p:txBody>
          <a:bodyPr wrap="none" lIns="0" tIns="0" rIns="0" bIns="0">
            <a:noAutofit/>
          </a:bodyPr>
          <a:lstStyle/>
          <a:p>
            <a:pPr>
              <a:defRPr sz="2250" b="1">
                <a:solidFill>
                  <a:srgbClr val="F5F5EE"/>
                </a:solidFill>
                <a:latin typeface="DejaVu Sans"/>
                <a:ea typeface="DejaVu Sans"/>
                <a:cs typeface="DejaVu Sans"/>
              </a:defRPr>
            </a:pPr>
            <a:r>
              <a:rPr sz="2250" b="1">
                <a:solidFill>
                  <a:srgbClr val="F5F5EE"/>
                </a:solidFill>
                <a:latin typeface="DejaVu Sans"/>
                <a:ea typeface="DejaVu Sans"/>
                <a:cs typeface="DejaVu Sans"/>
              </a:rPr>
              <a:t>What do href, src and alt describe?</a:t>
            </a:r>
          </a:p>
        </p:txBody>
      </p:sp>
      <p:sp>
        <p:nvSpPr>
          <p:cNvPr id="15" name="Что задают href, src и alt?">
            <a:extLst>
              <a:ext uri="{FF2B5EF4-FFF2-40B4-BE49-F238E27FC236}">
                <a16:creationId xmlns:a16="http://schemas.microsoft.com/office/drawing/2014/main" id="{C41C77E7-11E7-4D17-8F09-94AA6B6DD3DC}"/>
              </a:ext>
            </a:extLst>
          </p:cNvPr>
          <p:cNvSpPr>
            <a:spLocks noGrp="1"/>
          </p:cNvSpPr>
          <p:nvPr/>
        </p:nvSpPr>
        <p:spPr>
          <a:xfrm>
            <a:off x="1562100" y="5153025"/>
            <a:ext cx="9906000" cy="323850"/>
          </a:xfrm>
          <a:prstGeom prst="rect">
            <a:avLst/>
          </a:prstGeom>
          <a:noFill/>
          <a:ln w="0">
            <a:noFill/>
          </a:ln>
        </p:spPr>
        <p:txBody>
          <a:bodyPr wrap="none" lIns="0" tIns="0" rIns="0" bIns="0">
            <a:noAutofit/>
          </a:bodyPr>
          <a:lstStyle/>
          <a:p>
            <a:pPr>
              <a:defRPr sz="1500" b="0">
                <a:solidFill>
                  <a:srgbClr val="ABB7B8"/>
                </a:solidFill>
                <a:latin typeface="DejaVu Sans"/>
                <a:ea typeface="DejaVu Sans"/>
                <a:cs typeface="DejaVu Sans"/>
              </a:defRPr>
            </a:pPr>
            <a:r>
              <a:rPr sz="1500" b="0">
                <a:solidFill>
                  <a:srgbClr val="ABB7B8"/>
                </a:solidFill>
                <a:latin typeface="DejaVu Sans"/>
                <a:ea typeface="DejaVu Sans"/>
                <a:cs typeface="DejaVu Sans"/>
              </a:rPr>
              <a:t>Что задают href, src и alt?</a:t>
            </a:r>
          </a:p>
        </p:txBody>
      </p:sp>
      <p:sp>
        <p:nvSpPr>
          <p:cNvPr id="16" name="Next lesson: CSS and page styling">
            <a:extLst>
              <a:ext uri="{FF2B5EF4-FFF2-40B4-BE49-F238E27FC236}">
                <a16:creationId xmlns:a16="http://schemas.microsoft.com/office/drawing/2014/main" id="{97C2E678-F243-46CE-A1C3-FC09551D3537}"/>
              </a:ext>
            </a:extLst>
          </p:cNvPr>
          <p:cNvSpPr>
            <a:spLocks noGrp="1"/>
          </p:cNvSpPr>
          <p:nvPr/>
        </p:nvSpPr>
        <p:spPr>
          <a:xfrm>
            <a:off x="638175" y="6048375"/>
            <a:ext cx="10668000" cy="390525"/>
          </a:xfrm>
          <a:prstGeom prst="rect">
            <a:avLst/>
          </a:prstGeom>
          <a:noFill/>
          <a:ln w="0">
            <a:noFill/>
          </a:ln>
        </p:spPr>
        <p:txBody>
          <a:bodyPr wrap="none" lIns="0" tIns="0" rIns="0" bIns="0">
            <a:noAutofit/>
          </a:bodyPr>
          <a:lstStyle/>
          <a:p>
            <a:pPr>
              <a:defRPr sz="2025" b="1">
                <a:solidFill>
                  <a:srgbClr val="D3F879"/>
                </a:solidFill>
                <a:latin typeface="DejaVu Sans"/>
                <a:ea typeface="DejaVu Sans"/>
                <a:cs typeface="DejaVu Sans"/>
              </a:defRPr>
            </a:pPr>
            <a:r>
              <a:rPr sz="2025" b="1" dirty="0">
                <a:solidFill>
                  <a:srgbClr val="D3F879"/>
                </a:solidFill>
                <a:latin typeface="DejaVu Sans"/>
                <a:ea typeface="DejaVu Sans"/>
                <a:cs typeface="DejaVu Sans"/>
              </a:rPr>
              <a:t>Next lesson:</a:t>
            </a:r>
            <a:r>
              <a:rPr lang="en-US" sz="2025" b="1" dirty="0">
                <a:solidFill>
                  <a:srgbClr val="D3F879"/>
                </a:solidFill>
                <a:latin typeface="DejaVu Sans"/>
                <a:ea typeface="DejaVu Sans"/>
                <a:cs typeface="DejaVu Sans"/>
              </a:rPr>
              <a:t> HTML code review</a:t>
            </a:r>
          </a:p>
          <a:p>
            <a:pPr>
              <a:defRPr sz="2025" b="1">
                <a:solidFill>
                  <a:srgbClr val="D3F879"/>
                </a:solidFill>
                <a:latin typeface="DejaVu Sans"/>
                <a:ea typeface="DejaVu Sans"/>
                <a:cs typeface="DejaVu Sans"/>
              </a:defRPr>
            </a:pPr>
            <a:endParaRPr sz="2025" b="1" dirty="0">
              <a:solidFill>
                <a:srgbClr val="D3F879"/>
              </a:solidFill>
              <a:latin typeface="DejaVu Sans"/>
              <a:ea typeface="DejaVu Sans"/>
              <a:cs typeface="DejaVu Sans"/>
            </a:endParaRPr>
          </a:p>
        </p:txBody>
      </p:sp>
    </p:spTree>
    <p:extLst>
      <p:ext uri="{BB962C8B-B14F-4D97-AF65-F5344CB8AC3E}">
        <p14:creationId xmlns:p14="http://schemas.microsoft.com/office/powerpoint/2010/main" val="25192789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2942</Words>
  <Application>Microsoft Office PowerPoint</Application>
  <DocSecurity>0</DocSecurity>
  <PresentationFormat>Широкоэкранный</PresentationFormat>
  <Paragraphs>281</Paragraphs>
  <Slides>16</Slides>
  <Notes>16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16</vt:i4>
      </vt:variant>
    </vt:vector>
  </HeadingPairs>
  <TitlesOfParts>
    <vt:vector size="20" baseType="lpstr">
      <vt:lpstr>Calibri</vt:lpstr>
      <vt:lpstr>DejaVu Sans</vt:lpstr>
      <vt:lpstr>DejaVu Sans Mono</vt:lpstr>
      <vt:lpstr>ChatGPT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Пользователь</cp:lastModifiedBy>
  <cp:revision>1</cp:revision>
  <dcterms:created xsi:type="dcterms:W3CDTF">2026-09-09T08:24:26Z</dcterms:created>
  <dcterms:modified xsi:type="dcterms:W3CDTF">2026-09-09T08:38:28Z</dcterms:modified>
</cp:coreProperties>
</file>